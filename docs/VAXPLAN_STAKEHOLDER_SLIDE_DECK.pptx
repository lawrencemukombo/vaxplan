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colleagues and partners. Across low- and middle-income countries, routine immunization is our most cost-effective child survival intervention. Yet today, millions of infants miss out simply because health workers lack the precision planning tools needed to locate them, allocate vaccines, and fund outreach sessions. VaxPlan is an enterprise digital microplanning, geospatial catchment analysis, and cold chain logistics platform designed specifically to eradicate zero-dose communities.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Despite monumental global progress, 14.3 million children received zero doses of life-saving vaccines last year. The root cause is rarely vaccine manufacturing — it is the breakdown of microplanning at the health facility level. Clinic nurses are forced to fill out 40-page paper templates by hand, guess population figures, and send paper files up to the district. By the time budgets are calculated, the operational window has passed, stockouts occur, and outreach sessions are cancelled.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VaxPlan transforms fragmented microplanning into a streamlined, data-driven digital workflow across three tiers. At the clinic level, an offline-first app guides nurses step-by-step. At the district level, managers see aggregated budgets and cold chain capacity. And for donors, VaxPlan provides auditable verification that every dollar invested directly translates into scheduled vaccination sessions and children reached.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VaxPlan was hard-coded to operationalize the World Health Organization’s Reach Every District guidelines. Every step of the internationally accepted 10-step RED framework is directly mapped into our 12-step guided software wizard. Health workers are not learning a foreign theoretical model — they are executing WHO-mandated microplanning with modern digital precision, automated validations, and zero mathematical errors.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technological capabilities set VaxPlan apart. First, our offline-first architecture guarantees nurses in remote clinics can plan without connectivity. Second, our GIS engine combines satellite basemaps with open spatial data to pinpoint unreached settlements. Third, our cold chain calculator prevents vaccine spoilage by verifying refrigerator capacity. And fourth, our built-in governance rules ensure proper review periods so supply chains can actually deliver before sessions launch.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VaxPlan is built on a battle-tested open-source stack: PostgreSQL with PostGIS, Node.js, and React TypeScript. We adhere strictly to OpenHIE architectural principles, meaning VaxPlan does not create another silo. It feeds directly into national DHIS2 instances and integrates with electronic Logistics Management Information Systems. Most importantly, we respect national data sovereignty: VaxPlan can be hosted within national government data centres.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return on investment for VaxPlan is immediate and substantial. In pilot-calibrated models, we cut the planning cycle by over 50%, freeing up hundreds of hours of frontline nursing time. Vaccine wastage drops by 20%, saving expensive donor-funded antigens. Economically, every dollar spent on high-quality routine immunization delivers $34 in economic return. For donors and governments, VaxPlan ensures that immunization budgets are spent with surgical precision.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a clinic team experiences VaxPlan in the field. The wizard guides the nurse through 12 logical steps organized into three phases. In Phase 1, the system auto-populates historical clinic data and helps map settlements. In Phase 2, the team configures their session schedules — fixed, outreach, and mobile — while the system automatically sizes vaccine vials, ice packs, and transport requirements. In Phase 3, the budget is calculated down to the last dollar, and submitted for district review. What previously took a month is completed with total accuracy in a few days.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security and transparent governance are paramount. VaxPlan incorporates strict Role-Based Access Control that mirrors the national health system hierarchy. Health facility staff edit only their catchment plans, district managers review and approve, while national leaders and donors gain birds-eye analytical dashboards. Every single modification generates an immutable version record, providing an airtight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VaxPlan creates a rare win-win across the entire health ecosystem. For Ministries of Health, it delivers real-time visibility and accelerates national coverage targets. For Gavi and donors, it provides unprecedented auditability. For WHO and UNICEF, it standardizes operational best practices. And for the clinic nurse, it replaces weeks of exhausting paperwork with a simple digital tool that ensures vaccines and funding arrive on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deployment methodology is structured, phased, and risk-mitigated. We do not attempt overnight national overhauls. We begin with a 4-month pilot in 2 to 4 diverse districts to calibrate local disease burdens, train frontline staff, and validate baseline spatial data. In Phase 2, we expand across entire provinces and establish live data links with DHIS2. By Phase 3, the platform is scaled nationally, with predictive modeling guiding national vaccine procurement.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primary reason digital health platforms fail is financial unsustainability after initial grants expire. VaxPlan is intentionally designed with a transition-to-domestic-financing model. An initial donor grant funds the deployment and training. Subsequent annual operations cost just 2 to 5 cents per target child per year — a figure that national health ministries can easily absorb into their recurrent budgets. This ensures long-term operational continuity.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combines deep software engineering expertise with decades of on-the-ground public health experience. We have built enterprise software architectures and spent weeks in rural health posts understanding the exact realities frontline health workers face. Backed by an advisory council of former EPI directors and global health experts, VaxPlan possesses both the technological excellence and the political acumen required to succeed.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Colleagues, the vision is clear: no child should suffer or die from a vaccine-preventable illness simply because they were invisible on a paper map. With VaxPlan, we have built the precision digital engine to ensure every settlement is mapped, every clinic is funded, and every dose is protected. We invite you to partner with us — as pilot sponsors, technical advisors, and strategic allies. Together, we can turn universal immunization equity into reality.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35048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97280"/>
            <a:ext cx="3474720" cy="384048"/>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GLOBAL HEALTH STRATEGIC BRIEFING</a:t>
            </a:r>
          </a:p>
        </p:txBody>
      </p:sp>
      <p:sp>
        <p:nvSpPr>
          <p:cNvPr id="5" name="TextBox 4"/>
          <p:cNvSpPr txBox="1"/>
          <p:nvPr/>
        </p:nvSpPr>
        <p:spPr>
          <a:xfrm>
            <a:off x="914400" y="1737360"/>
            <a:ext cx="7498079" cy="2377440"/>
          </a:xfrm>
          <a:prstGeom prst="rect">
            <a:avLst/>
          </a:prstGeom>
          <a:noFill/>
        </p:spPr>
        <p:txBody>
          <a:bodyPr wrap="square">
            <a:spAutoFit/>
          </a:bodyPr>
          <a:lstStyle/>
          <a:p>
            <a:pPr>
              <a:defRPr sz="3800" b="1">
                <a:solidFill>
                  <a:srgbClr val="FFFFFF"/>
                </a:solidFill>
              </a:defRPr>
            </a:pPr>
            <a:r>
              <a:t>VaxPlan: Reaching Every Child Through Digital Precision</a:t>
            </a:r>
          </a:p>
          <a:p>
            <a:pPr>
              <a:spcBef>
                <a:spcPts val="1200"/>
              </a:spcBef>
              <a:defRPr sz="1800">
                <a:solidFill>
                  <a:srgbClr val="93C5FD"/>
                </a:solidFill>
              </a:defRPr>
            </a:pPr>
            <a:r>
              <a:t>Enterprise Geospatial Microplanning, Cold Chain Logistics &amp; Routine Immunization Equity</a:t>
            </a:r>
          </a:p>
        </p:txBody>
      </p:sp>
      <p:sp>
        <p:nvSpPr>
          <p:cNvPr id="6" name="Rounded Rectangle 5"/>
          <p:cNvSpPr/>
          <p:nvPr/>
        </p:nvSpPr>
        <p:spPr>
          <a:xfrm>
            <a:off x="914400" y="4572000"/>
            <a:ext cx="2331720" cy="1463040"/>
          </a:xfrm>
          <a:prstGeom prst="roundRect">
            <a:avLst/>
          </a:prstGeom>
          <a:solidFill>
            <a:srgbClr val="172A4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1">
                <a:solidFill>
                  <a:srgbClr val="FFFFFF"/>
                </a:solidFill>
              </a:defRPr>
            </a:pPr>
            <a:r>
              <a:t>Geospatial Precision</a:t>
            </a:r>
          </a:p>
          <a:p>
            <a:pPr>
              <a:spcBef>
                <a:spcPts val="400"/>
              </a:spcBef>
              <a:defRPr sz="1000">
                <a:solidFill>
                  <a:srgbClr val="CBD5E1"/>
                </a:solidFill>
              </a:defRPr>
            </a:pPr>
            <a:r>
              <a:t>Village-level PostGIS mapping &amp; travel friction analysis</a:t>
            </a:r>
          </a:p>
        </p:txBody>
      </p:sp>
      <p:sp>
        <p:nvSpPr>
          <p:cNvPr id="7" name="Rounded Rectangle 6"/>
          <p:cNvSpPr/>
          <p:nvPr/>
        </p:nvSpPr>
        <p:spPr>
          <a:xfrm>
            <a:off x="3383280" y="4572000"/>
            <a:ext cx="2331720" cy="1463040"/>
          </a:xfrm>
          <a:prstGeom prst="roundRect">
            <a:avLst/>
          </a:prstGeom>
          <a:solidFill>
            <a:srgbClr val="172A4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1">
                <a:solidFill>
                  <a:srgbClr val="FFFFFF"/>
                </a:solidFill>
              </a:defRPr>
            </a:pPr>
            <a:r>
              <a:t>WHO RED Alignment</a:t>
            </a:r>
          </a:p>
          <a:p>
            <a:pPr>
              <a:spcBef>
                <a:spcPts val="400"/>
              </a:spcBef>
              <a:defRPr sz="1000">
                <a:solidFill>
                  <a:srgbClr val="CBD5E1"/>
                </a:solidFill>
              </a:defRPr>
            </a:pPr>
            <a:r>
              <a:t>10-step Reach Every District guidelines operationalized</a:t>
            </a:r>
          </a:p>
        </p:txBody>
      </p:sp>
      <p:sp>
        <p:nvSpPr>
          <p:cNvPr id="8" name="Rounded Rectangle 7"/>
          <p:cNvSpPr/>
          <p:nvPr/>
        </p:nvSpPr>
        <p:spPr>
          <a:xfrm>
            <a:off x="5852160" y="4572000"/>
            <a:ext cx="2331720" cy="1463040"/>
          </a:xfrm>
          <a:prstGeom prst="roundRect">
            <a:avLst/>
          </a:prstGeom>
          <a:solidFill>
            <a:srgbClr val="172A4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1">
                <a:solidFill>
                  <a:srgbClr val="FFFFFF"/>
                </a:solidFill>
              </a:defRPr>
            </a:pPr>
            <a:r>
              <a:t>Zero-Dose Eradication</a:t>
            </a:r>
          </a:p>
          <a:p>
            <a:pPr>
              <a:spcBef>
                <a:spcPts val="400"/>
              </a:spcBef>
              <a:defRPr sz="1000">
                <a:solidFill>
                  <a:srgbClr val="CBD5E1"/>
                </a:solidFill>
              </a:defRPr>
            </a:pPr>
            <a:r>
              <a:t>Directing vaccines &amp; funds to unreached populations</a:t>
            </a:r>
          </a:p>
        </p:txBody>
      </p:sp>
      <p:sp>
        <p:nvSpPr>
          <p:cNvPr id="9" name="TextBox 8"/>
          <p:cNvSpPr txBox="1"/>
          <p:nvPr/>
        </p:nvSpPr>
        <p:spPr>
          <a:xfrm>
            <a:off x="8961120" y="2011680"/>
            <a:ext cx="2926080" cy="4114800"/>
          </a:xfrm>
          <a:prstGeom prst="rect">
            <a:avLst/>
          </a:prstGeom>
          <a:noFill/>
        </p:spPr>
        <p:txBody>
          <a:bodyPr wrap="square">
            <a:spAutoFit/>
          </a:bodyPr>
          <a:lstStyle/>
          <a:p>
            <a:pPr>
              <a:defRPr sz="1300" b="1">
                <a:solidFill>
                  <a:srgbClr val="0284C7"/>
                </a:solidFill>
              </a:defRPr>
            </a:pPr>
            <a:r>
              <a:t>EXECUTIVE SUMMARY</a:t>
            </a:r>
          </a:p>
          <a:p>
            <a:pPr>
              <a:spcBef>
                <a:spcPts val="1000"/>
              </a:spcBef>
              <a:defRPr sz="900" b="1">
                <a:solidFill>
                  <a:srgbClr val="64748B"/>
                </a:solidFill>
              </a:defRPr>
            </a:pPr>
            <a:r>
              <a:t>TARGET STAKEHOLDERS</a:t>
            </a:r>
          </a:p>
          <a:p>
            <a:pPr>
              <a:defRPr sz="1100">
                <a:solidFill>
                  <a:srgbClr val="FFFFFF"/>
                </a:solidFill>
              </a:defRPr>
            </a:pPr>
            <a:r>
              <a:t>Ministries of Health, Gavi, BMGF, UNICEF, WHO, USAID</a:t>
            </a:r>
          </a:p>
          <a:p>
            <a:pPr>
              <a:spcBef>
                <a:spcPts val="1000"/>
              </a:spcBef>
              <a:defRPr sz="900" b="1">
                <a:solidFill>
                  <a:srgbClr val="64748B"/>
                </a:solidFill>
              </a:defRPr>
            </a:pPr>
            <a:r>
              <a:t>PLATFORM TYPE</a:t>
            </a:r>
          </a:p>
          <a:p>
            <a:pPr>
              <a:defRPr sz="1100">
                <a:solidFill>
                  <a:srgbClr val="FFFFFF"/>
                </a:solidFill>
              </a:defRPr>
            </a:pPr>
            <a:r>
              <a:t>Offline-First Enterprise Microplanning &amp; Spatial Logistics SaaS</a:t>
            </a:r>
          </a:p>
          <a:p>
            <a:pPr>
              <a:spcBef>
                <a:spcPts val="1000"/>
              </a:spcBef>
              <a:defRPr sz="900" b="1">
                <a:solidFill>
                  <a:srgbClr val="64748B"/>
                </a:solidFill>
              </a:defRPr>
            </a:pPr>
            <a:r>
              <a:t>COMPLIANCE</a:t>
            </a:r>
          </a:p>
          <a:p>
            <a:pPr>
              <a:defRPr sz="1100">
                <a:solidFill>
                  <a:srgbClr val="FFFFFF"/>
                </a:solidFill>
              </a:defRPr>
            </a:pPr>
            <a:r>
              <a:t>WHO RED Framework, OpenHIE, DHIS2 Standard Interoperability</a:t>
            </a:r>
          </a:p>
          <a:p>
            <a:pPr>
              <a:spcBef>
                <a:spcPts val="1000"/>
              </a:spcBef>
              <a:defRPr sz="900" b="1">
                <a:solidFill>
                  <a:srgbClr val="64748B"/>
                </a:solidFill>
              </a:defRPr>
            </a:pPr>
            <a:r>
              <a:t>DEPLOYMENT STATUS</a:t>
            </a:r>
          </a:p>
          <a:p>
            <a:pPr>
              <a:defRPr sz="1100">
                <a:solidFill>
                  <a:srgbClr val="FFFFFF"/>
                </a:solidFill>
              </a:defRPr>
            </a:pPr>
            <a:r>
              <a:t>Field-Tested &amp; Production Ready (v1.0.0)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The Problem: Fragmentation at the Health Facility Frontier</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456432"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bIns="228600" tIns="274320"/>
          <a:lstStyle/>
          <a:p>
            <a:pPr algn="ctr">
              <a:defRPr sz="1600" b="1">
                <a:solidFill>
                  <a:srgbClr val="1B365D"/>
                </a:solidFill>
              </a:defRPr>
            </a:pPr>
            <a:r>
              <a:t>14.3 Million Zero-Dose Children</a:t>
            </a:r>
          </a:p>
          <a:p>
            <a:pPr>
              <a:spcBef>
                <a:spcPts val="1400"/>
              </a:spcBef>
              <a:defRPr sz="1200">
                <a:solidFill>
                  <a:srgbClr val="1E293B"/>
                </a:solidFill>
              </a:defRPr>
            </a:pPr>
            <a:r>
              <a:t>Remote, nomadic, conflict-affected, and urban-slum communities are completely invisible on static paper maps. Catchment boundaries drawn by hand lack validated GPS coordinates and realistic travel-time estimates.</a:t>
            </a:r>
          </a:p>
        </p:txBody>
      </p:sp>
      <p:sp>
        <p:nvSpPr>
          <p:cNvPr id="7" name="Rectangle 6"/>
          <p:cNvSpPr/>
          <p:nvPr/>
        </p:nvSpPr>
        <p:spPr>
          <a:xfrm>
            <a:off x="731520" y="1463040"/>
            <a:ext cx="3456432"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0832" y="1463040"/>
            <a:ext cx="3456432"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bIns="228600" tIns="274320"/>
          <a:lstStyle/>
          <a:p>
            <a:pPr algn="ctr">
              <a:defRPr sz="1600" b="1">
                <a:solidFill>
                  <a:srgbClr val="1B365D"/>
                </a:solidFill>
              </a:defRPr>
            </a:pPr>
            <a:r>
              <a:t>The Paper Microplanning Bottleneck</a:t>
            </a:r>
          </a:p>
          <a:p>
            <a:pPr>
              <a:spcBef>
                <a:spcPts val="1400"/>
              </a:spcBef>
              <a:defRPr sz="1200">
                <a:solidFill>
                  <a:srgbClr val="1E293B"/>
                </a:solidFill>
              </a:defRPr>
            </a:pPr>
            <a:r>
              <a:t>Health facilities spend 6–10 weeks manually compiling fragmented 40-page paper worksheets and spreadsheets. Math errors, missing supply rows, and transit delays mean plans miss national budget windows.</a:t>
            </a:r>
          </a:p>
        </p:txBody>
      </p:sp>
      <p:sp>
        <p:nvSpPr>
          <p:cNvPr id="9" name="Rectangle 8"/>
          <p:cNvSpPr/>
          <p:nvPr/>
        </p:nvSpPr>
        <p:spPr>
          <a:xfrm>
            <a:off x="4370832" y="1463040"/>
            <a:ext cx="3456432"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10144" y="1463040"/>
            <a:ext cx="3456432"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bIns="228600" tIns="274320"/>
          <a:lstStyle/>
          <a:p>
            <a:pPr algn="ctr">
              <a:defRPr sz="1600" b="1">
                <a:solidFill>
                  <a:srgbClr val="1B365D"/>
                </a:solidFill>
              </a:defRPr>
            </a:pPr>
            <a:r>
              <a:t>Cold Chain &amp; Supply Chain Mismatches</a:t>
            </a:r>
          </a:p>
          <a:p>
            <a:pPr>
              <a:spcBef>
                <a:spcPts val="1400"/>
              </a:spcBef>
              <a:defRPr sz="1200">
                <a:solidFill>
                  <a:srgbClr val="1E293B"/>
                </a:solidFill>
              </a:defRPr>
            </a:pPr>
            <a:r>
              <a:t>20–30% of vaccines are wasted due to inaccurate buffer estimations and refrigerator capacity bottlenecks. Outreach teams arrive in remote villages without adequate ice packs, carriers, or dilution syringes.</a:t>
            </a:r>
          </a:p>
        </p:txBody>
      </p:sp>
      <p:sp>
        <p:nvSpPr>
          <p:cNvPr id="11" name="Rectangle 10"/>
          <p:cNvSpPr/>
          <p:nvPr/>
        </p:nvSpPr>
        <p:spPr>
          <a:xfrm>
            <a:off x="8010144" y="1463040"/>
            <a:ext cx="3456432"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5303520"/>
            <a:ext cx="10728655" cy="109728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800" b="1">
                <a:solidFill>
                  <a:srgbClr val="FFFFFF"/>
                </a:solidFill>
              </a:defRPr>
            </a:pPr>
            <a:r>
              <a:t>$1.5 Billion+ Lost Annually in Preventable Outbreak Response</a:t>
            </a:r>
          </a:p>
          <a:p>
            <a:pPr>
              <a:spcBef>
                <a:spcPts val="400"/>
              </a:spcBef>
              <a:defRPr sz="1100">
                <a:solidFill>
                  <a:srgbClr val="CBD5E1"/>
                </a:solidFill>
              </a:defRPr>
            </a:pPr>
            <a:r>
              <a:t>Paper-based microplanning leads to unbudgeted outreach sessions, delayed Gavi grant disbursements, and preventable disease resurgence. Digital precision at the frontline is the only cure.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The Solution: A Unified Digital Microplanning Platform</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456432"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822960"/>
          <a:lstStyle/>
          <a:p>
            <a:pPr algn="ctr">
              <a:spcBef>
                <a:spcPts val="800"/>
              </a:spcBef>
              <a:defRPr sz="1100">
                <a:solidFill>
                  <a:srgbClr val="1E293B"/>
                </a:solidFill>
              </a:defRPr>
            </a:pPr>
            <a:r>
              <a:t>•  Guided 12-step digital microplanning wizard</a:t>
            </a:r>
          </a:p>
          <a:p>
            <a:pPr>
              <a:spcBef>
                <a:spcPts val="800"/>
              </a:spcBef>
              <a:defRPr sz="1100">
                <a:solidFill>
                  <a:srgbClr val="1E293B"/>
                </a:solidFill>
              </a:defRPr>
            </a:pPr>
            <a:r>
              <a:t>•  Automated facility &amp; settlement demographic pre-population</a:t>
            </a:r>
          </a:p>
          <a:p>
            <a:pPr>
              <a:spcBef>
                <a:spcPts val="800"/>
              </a:spcBef>
              <a:defRPr sz="1100">
                <a:solidFill>
                  <a:srgbClr val="1E293B"/>
                </a:solidFill>
              </a:defRPr>
            </a:pPr>
            <a:r>
              <a:t>•  Interactive village geocoding &amp; travel-time calculation</a:t>
            </a:r>
          </a:p>
          <a:p>
            <a:pPr>
              <a:spcBef>
                <a:spcPts val="800"/>
              </a:spcBef>
              <a:defRPr sz="1100">
                <a:solidFill>
                  <a:srgbClr val="1E293B"/>
                </a:solidFill>
              </a:defRPr>
            </a:pPr>
            <a:r>
              <a:t>•  Works 100% offline in rural clinics with local SQLite/IndexedDB</a:t>
            </a:r>
          </a:p>
        </p:txBody>
      </p:sp>
      <p:sp>
        <p:nvSpPr>
          <p:cNvPr id="7" name="Rectangle 6"/>
          <p:cNvSpPr/>
          <p:nvPr/>
        </p:nvSpPr>
        <p:spPr>
          <a:xfrm>
            <a:off x="731520" y="1463040"/>
            <a:ext cx="3456432" cy="6400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Tier 1: Facility Frontline</a:t>
            </a:r>
          </a:p>
          <a:p>
            <a:pPr>
              <a:defRPr sz="950">
                <a:solidFill>
                  <a:srgbClr val="E0F2FE"/>
                </a:solidFill>
              </a:defRPr>
            </a:pPr>
            <a:r>
              <a:t>Offline-First Mobile PWA</a:t>
            </a:r>
          </a:p>
        </p:txBody>
      </p:sp>
      <p:sp>
        <p:nvSpPr>
          <p:cNvPr id="8" name="Rounded Rectangle 7"/>
          <p:cNvSpPr/>
          <p:nvPr/>
        </p:nvSpPr>
        <p:spPr>
          <a:xfrm>
            <a:off x="4370832" y="1463040"/>
            <a:ext cx="3456432"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822960"/>
          <a:lstStyle/>
          <a:p>
            <a:pPr algn="ctr">
              <a:spcBef>
                <a:spcPts val="800"/>
              </a:spcBef>
              <a:defRPr sz="1100">
                <a:solidFill>
                  <a:srgbClr val="1E293B"/>
                </a:solidFill>
              </a:defRPr>
            </a:pPr>
            <a:r>
              <a:t>•  Real-time consolidation of multi-facility vaccine &amp; budget lines</a:t>
            </a:r>
          </a:p>
          <a:p>
            <a:pPr>
              <a:spcBef>
                <a:spcPts val="800"/>
              </a:spcBef>
              <a:defRPr sz="1100">
                <a:solidFill>
                  <a:srgbClr val="1E293B"/>
                </a:solidFill>
              </a:defRPr>
            </a:pPr>
            <a:r>
              <a:t>•  Transparent review workflows with configurable policy gates</a:t>
            </a:r>
          </a:p>
          <a:p>
            <a:pPr>
              <a:spcBef>
                <a:spcPts val="800"/>
              </a:spcBef>
              <a:defRPr sz="1100">
                <a:solidFill>
                  <a:srgbClr val="1E293B"/>
                </a:solidFill>
              </a:defRPr>
            </a:pPr>
            <a:r>
              <a:t>•  Supervisory field tracking &amp; cold chain capacity validation</a:t>
            </a:r>
          </a:p>
          <a:p>
            <a:pPr>
              <a:spcBef>
                <a:spcPts val="800"/>
              </a:spcBef>
              <a:defRPr sz="1100">
                <a:solidFill>
                  <a:srgbClr val="1E293B"/>
                </a:solidFill>
              </a:defRPr>
            </a:pPr>
            <a:r>
              <a:t>•  Automated DHIS2 aggregate data synchronization</a:t>
            </a:r>
          </a:p>
        </p:txBody>
      </p:sp>
      <p:sp>
        <p:nvSpPr>
          <p:cNvPr id="9" name="Rectangle 8"/>
          <p:cNvSpPr/>
          <p:nvPr/>
        </p:nvSpPr>
        <p:spPr>
          <a:xfrm>
            <a:off x="4370832" y="1463040"/>
            <a:ext cx="3456432" cy="64008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Tier 2: District &amp; Province</a:t>
            </a:r>
          </a:p>
          <a:p>
            <a:pPr>
              <a:defRPr sz="950">
                <a:solidFill>
                  <a:srgbClr val="E0F2FE"/>
                </a:solidFill>
              </a:defRPr>
            </a:pPr>
            <a:r>
              <a:t>Operational Aggregation Engine</a:t>
            </a:r>
          </a:p>
        </p:txBody>
      </p:sp>
      <p:sp>
        <p:nvSpPr>
          <p:cNvPr id="10" name="Rounded Rectangle 9"/>
          <p:cNvSpPr/>
          <p:nvPr/>
        </p:nvSpPr>
        <p:spPr>
          <a:xfrm>
            <a:off x="8010144" y="1463040"/>
            <a:ext cx="3456432"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822960"/>
          <a:lstStyle/>
          <a:p>
            <a:pPr algn="ctr">
              <a:spcBef>
                <a:spcPts val="800"/>
              </a:spcBef>
              <a:defRPr sz="1100">
                <a:solidFill>
                  <a:srgbClr val="1E293B"/>
                </a:solidFill>
              </a:defRPr>
            </a:pPr>
            <a:r>
              <a:t>•  National coverage heatmaps, risk indices &amp; dropout tracking</a:t>
            </a:r>
          </a:p>
          <a:p>
            <a:pPr>
              <a:spcBef>
                <a:spcPts val="800"/>
              </a:spcBef>
              <a:defRPr sz="1100">
                <a:solidFill>
                  <a:srgbClr val="1E293B"/>
                </a:solidFill>
              </a:defRPr>
            </a:pPr>
            <a:r>
              <a:t>•  Direct export of donor-compliant proposals (Gavi, UNICEF, BMGF)</a:t>
            </a:r>
          </a:p>
          <a:p>
            <a:pPr>
              <a:spcBef>
                <a:spcPts val="800"/>
              </a:spcBef>
              <a:defRPr sz="1100">
                <a:solidFill>
                  <a:srgbClr val="1E293B"/>
                </a:solidFill>
              </a:defRPr>
            </a:pPr>
            <a:r>
              <a:t>•  Predictive multi-antigen procurement &amp; buffer forecasting</a:t>
            </a:r>
          </a:p>
          <a:p>
            <a:pPr>
              <a:spcBef>
                <a:spcPts val="800"/>
              </a:spcBef>
              <a:defRPr sz="1100">
                <a:solidFill>
                  <a:srgbClr val="1E293B"/>
                </a:solidFill>
              </a:defRPr>
            </a:pPr>
            <a:r>
              <a:t>•  Auditable expenditure tracking down to individual outreach sessions</a:t>
            </a:r>
          </a:p>
        </p:txBody>
      </p:sp>
      <p:sp>
        <p:nvSpPr>
          <p:cNvPr id="11" name="Rectangle 10"/>
          <p:cNvSpPr/>
          <p:nvPr/>
        </p:nvSpPr>
        <p:spPr>
          <a:xfrm>
            <a:off x="8010144" y="1463040"/>
            <a:ext cx="3456432"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Tier 3: National &amp; Donors</a:t>
            </a:r>
          </a:p>
          <a:p>
            <a:pPr>
              <a:defRPr sz="950">
                <a:solidFill>
                  <a:srgbClr val="E0F2FE"/>
                </a:solidFill>
              </a:defRPr>
            </a:pPr>
            <a:r>
              <a:t>Strategic Command Centre</a:t>
            </a:r>
          </a:p>
        </p:txBody>
      </p:sp>
      <p:sp>
        <p:nvSpPr>
          <p:cNvPr id="12" name="Rounded Rectangle 11"/>
          <p:cNvSpPr/>
          <p:nvPr/>
        </p:nvSpPr>
        <p:spPr>
          <a:xfrm>
            <a:off x="731520" y="5532120"/>
            <a:ext cx="3456432" cy="86868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2000" b="1">
                <a:solidFill>
                  <a:srgbClr val="10B981"/>
                </a:solidFill>
              </a:defRPr>
            </a:pPr>
            <a:r>
              <a:t>40–60%</a:t>
            </a:r>
          </a:p>
          <a:p>
            <a:pPr>
              <a:defRPr sz="1000">
                <a:solidFill>
                  <a:srgbClr val="FFFFFF"/>
                </a:solidFill>
              </a:defRPr>
            </a:pPr>
            <a:r>
              <a:t>Faster Microplan Completion</a:t>
            </a:r>
          </a:p>
        </p:txBody>
      </p:sp>
      <p:sp>
        <p:nvSpPr>
          <p:cNvPr id="13" name="Rounded Rectangle 12"/>
          <p:cNvSpPr/>
          <p:nvPr/>
        </p:nvSpPr>
        <p:spPr>
          <a:xfrm>
            <a:off x="4370832" y="5532120"/>
            <a:ext cx="3456432" cy="86868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2000" b="1">
                <a:solidFill>
                  <a:srgbClr val="10B981"/>
                </a:solidFill>
              </a:defRPr>
            </a:pPr>
            <a:r>
              <a:t>100%</a:t>
            </a:r>
          </a:p>
          <a:p>
            <a:pPr>
              <a:defRPr sz="1000">
                <a:solidFill>
                  <a:srgbClr val="FFFFFF"/>
                </a:solidFill>
              </a:defRPr>
            </a:pPr>
            <a:r>
              <a:t>Geocoded Settlement Visibility</a:t>
            </a:r>
          </a:p>
        </p:txBody>
      </p:sp>
      <p:sp>
        <p:nvSpPr>
          <p:cNvPr id="14" name="Rounded Rectangle 13"/>
          <p:cNvSpPr/>
          <p:nvPr/>
        </p:nvSpPr>
        <p:spPr>
          <a:xfrm>
            <a:off x="8010144" y="5532120"/>
            <a:ext cx="3456432" cy="86868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2000" b="1">
                <a:solidFill>
                  <a:srgbClr val="10B981"/>
                </a:solidFill>
              </a:defRPr>
            </a:pPr>
            <a:r>
              <a:t>Zero</a:t>
            </a:r>
          </a:p>
          <a:p>
            <a:pPr>
              <a:defRPr sz="1000">
                <a:solidFill>
                  <a:srgbClr val="FFFFFF"/>
                </a:solidFill>
              </a:defRPr>
            </a:pPr>
            <a:r>
              <a:t>Lost Operational Records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Engineered for Global Standards: WHO RED Alignment</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2926080"/>
                <a:gridCol w="4114800"/>
                <a:gridCol w="3687775"/>
              </a:tblGrid>
              <a:tr h="807720">
                <a:tc>
                  <a:txBody>
                    <a:bodyPr/>
                    <a:lstStyle/>
                    <a:p>
                      <a:pPr>
                        <a:defRPr sz="1200" b="1">
                          <a:solidFill>
                            <a:srgbClr val="FFFFFF"/>
                          </a:solidFill>
                        </a:defRPr>
                      </a:pPr>
                      <a:r>
                        <a:t>WHO RED Step</a:t>
                      </a:r>
                    </a:p>
                  </a:txBody>
                  <a:tcPr>
                    <a:solidFill>
                      <a:srgbClr val="1B365D"/>
                    </a:solidFill>
                  </a:tcPr>
                </a:tc>
                <a:tc>
                  <a:txBody>
                    <a:bodyPr/>
                    <a:lstStyle/>
                    <a:p>
                      <a:pPr>
                        <a:defRPr sz="1200" b="1">
                          <a:solidFill>
                            <a:srgbClr val="FFFFFF"/>
                          </a:solidFill>
                        </a:defRPr>
                      </a:pPr>
                      <a:r>
                        <a:t>VaxPlan Digital Innovation</a:t>
                      </a:r>
                    </a:p>
                  </a:txBody>
                  <a:tcPr>
                    <a:solidFill>
                      <a:srgbClr val="1B365D"/>
                    </a:solidFill>
                  </a:tcPr>
                </a:tc>
                <a:tc>
                  <a:txBody>
                    <a:bodyPr/>
                    <a:lstStyle/>
                    <a:p>
                      <a:pPr>
                        <a:defRPr sz="1200" b="1">
                          <a:solidFill>
                            <a:srgbClr val="FFFFFF"/>
                          </a:solidFill>
                        </a:defRPr>
                      </a:pPr>
                      <a:r>
                        <a:t>Frontline &amp; System Impact</a:t>
                      </a:r>
                    </a:p>
                  </a:txBody>
                  <a:tcPr>
                    <a:solidFill>
                      <a:srgbClr val="1B365D"/>
                    </a:solidFill>
                  </a:tcPr>
                </a:tc>
              </a:tr>
              <a:tr h="807720">
                <a:tc>
                  <a:txBody>
                    <a:bodyPr/>
                    <a:lstStyle/>
                    <a:p>
                      <a:pPr>
                        <a:defRPr sz="1050">
                          <a:solidFill>
                            <a:srgbClr val="1E293B"/>
                          </a:solidFill>
                        </a:defRPr>
                      </a:pPr>
                      <a:r>
                        <a:t>Step 1: Quantitative Data Analysis</a:t>
                      </a:r>
                      <a:br/>
                      <a:r>
                        <a:t>(Coverage &amp; Demographics)</a:t>
                      </a:r>
                    </a:p>
                  </a:txBody>
                  <a:tcPr>
                    <a:solidFill>
                      <a:srgbClr val="FFFFFF"/>
                    </a:solidFill>
                  </a:tcPr>
                </a:tc>
                <a:tc>
                  <a:txBody>
                    <a:bodyPr/>
                    <a:lstStyle/>
                    <a:p>
                      <a:pPr>
                        <a:defRPr sz="1050">
                          <a:solidFill>
                            <a:srgbClr val="1E293B"/>
                          </a:solidFill>
                        </a:defRPr>
                      </a:pPr>
                      <a:r>
                        <a:t>Automated historical coverage, drop-out rate computation &amp; RED categorisation (Cat 1 to 4).</a:t>
                      </a:r>
                    </a:p>
                  </a:txBody>
                  <a:tcPr>
                    <a:solidFill>
                      <a:srgbClr val="FFFFFF"/>
                    </a:solidFill>
                  </a:tcPr>
                </a:tc>
                <a:tc>
                  <a:txBody>
                    <a:bodyPr/>
                    <a:lstStyle/>
                    <a:p>
                      <a:pPr>
                        <a:defRPr sz="1050">
                          <a:solidFill>
                            <a:srgbClr val="1E293B"/>
                          </a:solidFill>
                        </a:defRPr>
                      </a:pPr>
                      <a:r>
                        <a:t>Eliminates manual calculation errors; instantly spots high DTP1-DTP3 drop-out clinics.</a:t>
                      </a:r>
                    </a:p>
                  </a:txBody>
                  <a:tcPr>
                    <a:solidFill>
                      <a:srgbClr val="FFFFFF"/>
                    </a:solidFill>
                  </a:tcPr>
                </a:tc>
              </a:tr>
              <a:tr h="807720">
                <a:tc>
                  <a:txBody>
                    <a:bodyPr/>
                    <a:lstStyle/>
                    <a:p>
                      <a:pPr>
                        <a:defRPr sz="1050">
                          <a:solidFill>
                            <a:srgbClr val="1E293B"/>
                          </a:solidFill>
                        </a:defRPr>
                      </a:pPr>
                      <a:r>
                        <a:t>Step 2: Operational Map</a:t>
                      </a:r>
                      <a:br/>
                      <a:r>
                        <a:t>(Catchment &amp; Settlement Mapping)</a:t>
                      </a:r>
                    </a:p>
                  </a:txBody>
                  <a:tcPr>
                    <a:solidFill>
                      <a:srgbClr val="F1F5F9"/>
                    </a:solidFill>
                  </a:tcPr>
                </a:tc>
                <a:tc>
                  <a:txBody>
                    <a:bodyPr/>
                    <a:lstStyle/>
                    <a:p>
                      <a:pPr>
                        <a:defRPr sz="1050">
                          <a:solidFill>
                            <a:srgbClr val="1E293B"/>
                          </a:solidFill>
                        </a:defRPr>
                      </a:pPr>
                      <a:r>
                        <a:t>PostGIS interactive GIS mapping with village coordinates, travel distance, and terrain friction.</a:t>
                      </a:r>
                    </a:p>
                  </a:txBody>
                  <a:tcPr>
                    <a:solidFill>
                      <a:srgbClr val="F1F5F9"/>
                    </a:solidFill>
                  </a:tcPr>
                </a:tc>
                <a:tc>
                  <a:txBody>
                    <a:bodyPr/>
                    <a:lstStyle/>
                    <a:p>
                      <a:pPr>
                        <a:defRPr sz="1050">
                          <a:solidFill>
                            <a:srgbClr val="1E293B"/>
                          </a:solidFill>
                        </a:defRPr>
                      </a:pPr>
                      <a:r>
                        <a:t>Uncovers unreached settlements and seasonal barriers invisible on paper maps.</a:t>
                      </a:r>
                    </a:p>
                  </a:txBody>
                  <a:tcPr>
                    <a:solidFill>
                      <a:srgbClr val="F1F5F9"/>
                    </a:solidFill>
                  </a:tcPr>
                </a:tc>
              </a:tr>
              <a:tr h="807720">
                <a:tc>
                  <a:txBody>
                    <a:bodyPr/>
                    <a:lstStyle/>
                    <a:p>
                      <a:pPr>
                        <a:defRPr sz="1050">
                          <a:solidFill>
                            <a:srgbClr val="1E293B"/>
                          </a:solidFill>
                        </a:defRPr>
                      </a:pPr>
                      <a:r>
                        <a:t>Step 4 &amp; 6: Session Plans &amp; Workplans</a:t>
                      </a:r>
                      <a:br/>
                      <a:r>
                        <a:t>(Delivery Strategies)</a:t>
                      </a:r>
                    </a:p>
                  </a:txBody>
                  <a:tcPr>
                    <a:solidFill>
                      <a:srgbClr val="FFFFFF"/>
                    </a:solidFill>
                  </a:tcPr>
                </a:tc>
                <a:tc>
                  <a:txBody>
                    <a:bodyPr/>
                    <a:lstStyle/>
                    <a:p>
                      <a:pPr>
                        <a:defRPr sz="1050">
                          <a:solidFill>
                            <a:srgbClr val="1E293B"/>
                          </a:solidFill>
                        </a:defRPr>
                      </a:pPr>
                      <a:r>
                        <a:t>Workload sizing algorithm allocating sessions into Fixed, Outreach, and Mobile delivery modes.</a:t>
                      </a:r>
                    </a:p>
                  </a:txBody>
                  <a:tcPr>
                    <a:solidFill>
                      <a:srgbClr val="FFFFFF"/>
                    </a:solidFill>
                  </a:tcPr>
                </a:tc>
                <a:tc>
                  <a:txBody>
                    <a:bodyPr/>
                    <a:lstStyle/>
                    <a:p>
                      <a:pPr>
                        <a:defRPr sz="1050">
                          <a:solidFill>
                            <a:srgbClr val="1E293B"/>
                          </a:solidFill>
                        </a:defRPr>
                      </a:pPr>
                      <a:r>
                        <a:t>Balances nursing staff workload; guarantees transport and fuel feasibility.</a:t>
                      </a:r>
                    </a:p>
                  </a:txBody>
                  <a:tcPr>
                    <a:solidFill>
                      <a:srgbClr val="FFFFFF"/>
                    </a:solidFill>
                  </a:tcPr>
                </a:tc>
              </a:tr>
              <a:tr h="807720">
                <a:tc>
                  <a:txBody>
                    <a:bodyPr/>
                    <a:lstStyle/>
                    <a:p>
                      <a:pPr>
                        <a:defRPr sz="1050">
                          <a:solidFill>
                            <a:srgbClr val="1E293B"/>
                          </a:solidFill>
                        </a:defRPr>
                      </a:pPr>
                      <a:r>
                        <a:t>Step 8: Community Engagement</a:t>
                      </a:r>
                      <a:br/>
                      <a:r>
                        <a:t>(Defaulter Tracking &amp; Mobilization)</a:t>
                      </a:r>
                    </a:p>
                  </a:txBody>
                  <a:tcPr>
                    <a:solidFill>
                      <a:srgbClr val="F1F5F9"/>
                    </a:solidFill>
                  </a:tcPr>
                </a:tc>
                <a:tc>
                  <a:txBody>
                    <a:bodyPr/>
                    <a:lstStyle/>
                    <a:p>
                      <a:pPr>
                        <a:defRPr sz="1050">
                          <a:solidFill>
                            <a:srgbClr val="1E293B"/>
                          </a:solidFill>
                        </a:defRPr>
                      </a:pPr>
                      <a:r>
                        <a:t>Defaulter tracing workflows, community leader registry, and civil society partner tracking.</a:t>
                      </a:r>
                    </a:p>
                  </a:txBody>
                  <a:tcPr>
                    <a:solidFill>
                      <a:srgbClr val="F1F5F9"/>
                    </a:solidFill>
                  </a:tcPr>
                </a:tc>
                <a:tc>
                  <a:txBody>
                    <a:bodyPr/>
                    <a:lstStyle/>
                    <a:p>
                      <a:pPr>
                        <a:defRPr sz="1050">
                          <a:solidFill>
                            <a:srgbClr val="1E293B"/>
                          </a:solidFill>
                        </a:defRPr>
                      </a:pPr>
                      <a:r>
                        <a:t>Empowers village mobilizers with nominal lists of missed children.</a:t>
                      </a:r>
                    </a:p>
                  </a:txBody>
                  <a:tcPr>
                    <a:solidFill>
                      <a:srgbClr val="F1F5F9"/>
                    </a:solidFill>
                  </a:tcPr>
                </a:tc>
              </a:tr>
              <a:tr h="807720">
                <a:tc>
                  <a:txBody>
                    <a:bodyPr/>
                    <a:lstStyle/>
                    <a:p>
                      <a:pPr>
                        <a:defRPr sz="1050">
                          <a:solidFill>
                            <a:srgbClr val="1E293B"/>
                          </a:solidFill>
                        </a:defRPr>
                      </a:pPr>
                      <a:r>
                        <a:t>Step 9: Managing Supplies</a:t>
                      </a:r>
                      <a:br/>
                      <a:r>
                        <a:t>(Vaccines, Diluents &amp; Cold Chain)</a:t>
                      </a:r>
                    </a:p>
                  </a:txBody>
                  <a:tcPr>
                    <a:solidFill>
                      <a:srgbClr val="FFFFFF"/>
                    </a:solidFill>
                  </a:tcPr>
                </a:tc>
                <a:tc>
                  <a:txBody>
                    <a:bodyPr/>
                    <a:lstStyle/>
                    <a:p>
                      <a:pPr>
                        <a:defRPr sz="1050">
                          <a:solidFill>
                            <a:srgbClr val="1E293B"/>
                          </a:solidFill>
                        </a:defRPr>
                      </a:pPr>
                      <a:r>
                        <a:t>Automated multi-antigen vial, AD syringe, safety box, and cold box volume calculator.</a:t>
                      </a:r>
                    </a:p>
                  </a:txBody>
                  <a:tcPr>
                    <a:solidFill>
                      <a:srgbClr val="FFFFFF"/>
                    </a:solidFill>
                  </a:tcPr>
                </a:tc>
                <a:tc>
                  <a:txBody>
                    <a:bodyPr/>
                    <a:lstStyle/>
                    <a:p>
                      <a:pPr>
                        <a:defRPr sz="1050">
                          <a:solidFill>
                            <a:srgbClr val="1E293B"/>
                          </a:solidFill>
                        </a:defRPr>
                      </a:pPr>
                      <a:r>
                        <a:t>Prevents vaccine stockouts and ensures refrigerator storage capacity is never exceeded.</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Technological Innovations Driving Last-Mile Reach</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422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28600" tIns="182880"/>
          <a:lstStyle/>
          <a:p>
            <a:pPr algn="ctr">
              <a:defRPr sz="950" b="1">
                <a:solidFill>
                  <a:srgbClr val="008080"/>
                </a:solidFill>
              </a:defRPr>
            </a:pPr>
            <a:r>
              <a:t>INDEXEDDB + SQLITE SYNC ENGINE</a:t>
            </a:r>
          </a:p>
          <a:p>
            <a:pPr>
              <a:spcBef>
                <a:spcPts val="400"/>
              </a:spcBef>
              <a:defRPr sz="1500" b="1">
                <a:solidFill>
                  <a:srgbClr val="1B365D"/>
                </a:solidFill>
              </a:defRPr>
            </a:pPr>
            <a:r>
              <a:t>Offline-First PWA Architecture</a:t>
            </a:r>
          </a:p>
          <a:p>
            <a:pPr>
              <a:spcBef>
                <a:spcPts val="800"/>
              </a:spcBef>
              <a:defRPr sz="1100">
                <a:solidFill>
                  <a:srgbClr val="1E293B"/>
                </a:solidFill>
              </a:defRPr>
            </a:pPr>
            <a:r>
              <a:t>Built for remote clinics with zero cellular coverage. Operates completely offline with local storage, syncing securely via multi-master conflict resolution once connectivity is restored.</a:t>
            </a:r>
          </a:p>
        </p:txBody>
      </p:sp>
      <p:sp>
        <p:nvSpPr>
          <p:cNvPr id="7" name="Rectangle 6"/>
          <p:cNvSpPr/>
          <p:nvPr/>
        </p:nvSpPr>
        <p:spPr>
          <a:xfrm>
            <a:off x="731520" y="1463040"/>
            <a:ext cx="109728" cy="219456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422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28600" tIns="182880"/>
          <a:lstStyle/>
          <a:p>
            <a:pPr algn="ctr">
              <a:defRPr sz="950" b="1">
                <a:solidFill>
                  <a:srgbClr val="0284C7"/>
                </a:solidFill>
              </a:defRPr>
            </a:pPr>
            <a:r>
              <a:t>POSTGIS + MAPLIBRE GL</a:t>
            </a:r>
          </a:p>
          <a:p>
            <a:pPr>
              <a:spcBef>
                <a:spcPts val="400"/>
              </a:spcBef>
              <a:defRPr sz="1500" b="1">
                <a:solidFill>
                  <a:srgbClr val="1B365D"/>
                </a:solidFill>
              </a:defRPr>
            </a:pPr>
            <a:r>
              <a:t>Precision Geospatial Analytics</a:t>
            </a:r>
          </a:p>
          <a:p>
            <a:pPr>
              <a:spcBef>
                <a:spcPts val="800"/>
              </a:spcBef>
              <a:defRPr sz="1100">
                <a:solidFill>
                  <a:srgbClr val="1E293B"/>
                </a:solidFill>
              </a:defRPr>
            </a:pPr>
            <a:r>
              <a:t>PostGIS spatial engine calculates catchment boundaries, geodesic distances, and travel-time contours. Pinpoints settlements beyond the 5km outreach threshold.</a:t>
            </a:r>
          </a:p>
        </p:txBody>
      </p:sp>
      <p:sp>
        <p:nvSpPr>
          <p:cNvPr id="9" name="Rectangle 8"/>
          <p:cNvSpPr/>
          <p:nvPr/>
        </p:nvSpPr>
        <p:spPr>
          <a:xfrm>
            <a:off x="6217920" y="1463040"/>
            <a:ext cx="109728" cy="21945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886200"/>
            <a:ext cx="52422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28600" tIns="182880"/>
          <a:lstStyle/>
          <a:p>
            <a:pPr algn="ctr">
              <a:defRPr sz="950" b="1">
                <a:solidFill>
                  <a:srgbClr val="D97706"/>
                </a:solidFill>
              </a:defRPr>
            </a:pPr>
            <a:r>
              <a:t>AUTONOMOUS SIZING ALGORITHMS</a:t>
            </a:r>
          </a:p>
          <a:p>
            <a:pPr>
              <a:spcBef>
                <a:spcPts val="400"/>
              </a:spcBef>
              <a:defRPr sz="1500" b="1">
                <a:solidFill>
                  <a:srgbClr val="1B365D"/>
                </a:solidFill>
              </a:defRPr>
            </a:pPr>
            <a:r>
              <a:t>Predictive Cold Chain Sizing Engine</a:t>
            </a:r>
          </a:p>
          <a:p>
            <a:pPr>
              <a:spcBef>
                <a:spcPts val="800"/>
              </a:spcBef>
              <a:defRPr sz="1100">
                <a:solidFill>
                  <a:srgbClr val="1E293B"/>
                </a:solidFill>
              </a:defRPr>
            </a:pPr>
            <a:r>
              <a:t>Calculates vaccine doses, wastage buffers, syringes, and cold chain cubic capacity for 10+ antigens. Prevents both stockouts and catastrophic refrigerator overflows.</a:t>
            </a:r>
          </a:p>
        </p:txBody>
      </p:sp>
      <p:sp>
        <p:nvSpPr>
          <p:cNvPr id="11" name="Rectangle 10"/>
          <p:cNvSpPr/>
          <p:nvPr/>
        </p:nvSpPr>
        <p:spPr>
          <a:xfrm>
            <a:off x="731520" y="3886200"/>
            <a:ext cx="109728" cy="21945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3886200"/>
            <a:ext cx="52422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28600" tIns="182880"/>
          <a:lstStyle/>
          <a:p>
            <a:pPr algn="ctr">
              <a:defRPr sz="950" b="1">
                <a:solidFill>
                  <a:srgbClr val="1B365D"/>
                </a:solidFill>
              </a:defRPr>
            </a:pPr>
            <a:r>
              <a:t>IMMUTABLE AUDIT &amp; VERSION GATES</a:t>
            </a:r>
          </a:p>
          <a:p>
            <a:pPr>
              <a:spcBef>
                <a:spcPts val="400"/>
              </a:spcBef>
              <a:defRPr sz="1500" b="1">
                <a:solidFill>
                  <a:srgbClr val="1B365D"/>
                </a:solidFill>
              </a:defRPr>
            </a:pPr>
            <a:r>
              <a:t>Policy-Enforced Governance &amp; Review</a:t>
            </a:r>
          </a:p>
          <a:p>
            <a:pPr>
              <a:spcBef>
                <a:spcPts val="800"/>
              </a:spcBef>
              <a:defRPr sz="1100">
                <a:solidFill>
                  <a:srgbClr val="1E293B"/>
                </a:solidFill>
              </a:defRPr>
            </a:pPr>
            <a:r>
              <a:t>Enforces a mandatory 7-day stakeholder review window prior to plan approval, plus configurable lead days for session execution to protect logistics integrity.</a:t>
            </a:r>
          </a:p>
        </p:txBody>
      </p:sp>
      <p:sp>
        <p:nvSpPr>
          <p:cNvPr id="13" name="Rectangle 12"/>
          <p:cNvSpPr/>
          <p:nvPr/>
        </p:nvSpPr>
        <p:spPr>
          <a:xfrm>
            <a:off x="6217920" y="3886200"/>
            <a:ext cx="109728" cy="219456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Enterprise Architecture &amp; System Interoperability</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6217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300" b="1">
                <a:solidFill>
                  <a:srgbClr val="1B365D"/>
                </a:solidFill>
              </a:defRPr>
            </a:pPr>
            <a:r>
              <a:t>Presentation Layer (Client)</a:t>
            </a:r>
          </a:p>
          <a:p>
            <a:pPr>
              <a:spcBef>
                <a:spcPts val="200"/>
              </a:spcBef>
              <a:defRPr sz="950" b="1">
                <a:solidFill>
                  <a:srgbClr val="008080"/>
                </a:solidFill>
              </a:defRPr>
            </a:pPr>
            <a:r>
              <a:t>React 18 + TypeScript + Vite + Tailwind CSS + MapLibre GL</a:t>
            </a:r>
          </a:p>
          <a:p>
            <a:pPr>
              <a:spcBef>
                <a:spcPts val="400"/>
              </a:spcBef>
              <a:defRPr sz="1000">
                <a:solidFill>
                  <a:srgbClr val="1E293B"/>
                </a:solidFill>
              </a:defRPr>
            </a:pPr>
            <a:r>
              <a:t>Responsive single-page application and PWA. Seamless touch-first tablet interactions and lightning-fast rendering.</a:t>
            </a:r>
          </a:p>
        </p:txBody>
      </p:sp>
      <p:sp>
        <p:nvSpPr>
          <p:cNvPr id="7" name="Rounded Rectangle 6"/>
          <p:cNvSpPr/>
          <p:nvPr/>
        </p:nvSpPr>
        <p:spPr>
          <a:xfrm>
            <a:off x="731520" y="3063240"/>
            <a:ext cx="6217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300" b="1">
                <a:solidFill>
                  <a:srgbClr val="1B365D"/>
                </a:solidFill>
              </a:defRPr>
            </a:pPr>
            <a:r>
              <a:t>Application &amp; API Layer</a:t>
            </a:r>
          </a:p>
          <a:p>
            <a:pPr>
              <a:spcBef>
                <a:spcPts val="200"/>
              </a:spcBef>
              <a:defRPr sz="950" b="1">
                <a:solidFill>
                  <a:srgbClr val="008080"/>
                </a:solidFill>
              </a:defRPr>
            </a:pPr>
            <a:r>
              <a:t>Node.js + Express + REST APIs + Role-Based Access Control</a:t>
            </a:r>
          </a:p>
          <a:p>
            <a:pPr>
              <a:spcBef>
                <a:spcPts val="400"/>
              </a:spcBef>
              <a:defRPr sz="1000">
                <a:solidFill>
                  <a:srgbClr val="1E293B"/>
                </a:solidFill>
              </a:defRPr>
            </a:pPr>
            <a:r>
              <a:t>Microplan hydration, policy rule evaluation, automated validation pipelines, and audit event dispatching.</a:t>
            </a:r>
          </a:p>
        </p:txBody>
      </p:sp>
      <p:sp>
        <p:nvSpPr>
          <p:cNvPr id="8" name="Rounded Rectangle 7"/>
          <p:cNvSpPr/>
          <p:nvPr/>
        </p:nvSpPr>
        <p:spPr>
          <a:xfrm>
            <a:off x="731520" y="4663440"/>
            <a:ext cx="6217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300" b="1">
                <a:solidFill>
                  <a:srgbClr val="1B365D"/>
                </a:solidFill>
              </a:defRPr>
            </a:pPr>
            <a:r>
              <a:t>Data &amp; Spatial Engine</a:t>
            </a:r>
          </a:p>
          <a:p>
            <a:pPr>
              <a:spcBef>
                <a:spcPts val="200"/>
              </a:spcBef>
              <a:defRPr sz="950" b="1">
                <a:solidFill>
                  <a:srgbClr val="008080"/>
                </a:solidFill>
              </a:defRPr>
            </a:pPr>
            <a:r>
              <a:t>PostgreSQL 16 + PostGIS Spatial Extension + Drizzle ORM</a:t>
            </a:r>
          </a:p>
          <a:p>
            <a:pPr>
              <a:spcBef>
                <a:spcPts val="400"/>
              </a:spcBef>
              <a:defRPr sz="1000">
                <a:solidFill>
                  <a:srgbClr val="1E293B"/>
                </a:solidFill>
              </a:defRPr>
            </a:pPr>
            <a:r>
              <a:t>High-performance spatial querying, zero-destructive upsert schema, immutable version history, and automated backups.</a:t>
            </a:r>
          </a:p>
        </p:txBody>
      </p:sp>
      <p:sp>
        <p:nvSpPr>
          <p:cNvPr id="9" name="Rounded Rectangle 8"/>
          <p:cNvSpPr/>
          <p:nvPr/>
        </p:nvSpPr>
        <p:spPr>
          <a:xfrm>
            <a:off x="7132320" y="1463040"/>
            <a:ext cx="4327855" cy="461772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300" b="1">
                <a:solidFill>
                  <a:srgbClr val="0284C7"/>
                </a:solidFill>
              </a:defRPr>
            </a:pPr>
            <a:r>
              <a:t>OPEN STANDARDS &amp; INTEGRATIONS</a:t>
            </a:r>
          </a:p>
          <a:p>
            <a:pPr>
              <a:spcBef>
                <a:spcPts val="1200"/>
              </a:spcBef>
              <a:defRPr sz="1200" b="1">
                <a:solidFill>
                  <a:srgbClr val="FFFFFF"/>
                </a:solidFill>
              </a:defRPr>
            </a:pPr>
            <a:r>
              <a:t>✔  OpenHIE Aligned</a:t>
            </a:r>
          </a:p>
          <a:p>
            <a:pPr>
              <a:spcBef>
                <a:spcPts val="200"/>
              </a:spcBef>
              <a:defRPr sz="1000">
                <a:solidFill>
                  <a:srgbClr val="CBD5E1"/>
                </a:solidFill>
              </a:defRPr>
            </a:pPr>
            <a:r>
              <a:t>Conforms to Open Health Information Exchange guidelines for health facility registries and indicator exchange.</a:t>
            </a:r>
          </a:p>
          <a:p>
            <a:pPr>
              <a:spcBef>
                <a:spcPts val="1200"/>
              </a:spcBef>
              <a:defRPr sz="1200" b="1">
                <a:solidFill>
                  <a:srgbClr val="FFFFFF"/>
                </a:solidFill>
              </a:defRPr>
            </a:pPr>
            <a:r>
              <a:t>✔  DHIS2 Bi-Directional Sync</a:t>
            </a:r>
          </a:p>
          <a:p>
            <a:pPr>
              <a:spcBef>
                <a:spcPts val="200"/>
              </a:spcBef>
              <a:defRPr sz="1000">
                <a:solidFill>
                  <a:srgbClr val="CBD5E1"/>
                </a:solidFill>
              </a:defRPr>
            </a:pPr>
            <a:r>
              <a:t>Direct aggregate reporting pipeline to national DHIS2 instances, eliminating double-data entry.</a:t>
            </a:r>
          </a:p>
          <a:p>
            <a:pPr>
              <a:spcBef>
                <a:spcPts val="1200"/>
              </a:spcBef>
              <a:defRPr sz="1200" b="1">
                <a:solidFill>
                  <a:srgbClr val="FFFFFF"/>
                </a:solidFill>
              </a:defRPr>
            </a:pPr>
            <a:r>
              <a:t>✔  eLMIS Supply Integration</a:t>
            </a:r>
          </a:p>
          <a:p>
            <a:pPr>
              <a:spcBef>
                <a:spcPts val="200"/>
              </a:spcBef>
              <a:defRPr sz="1000">
                <a:solidFill>
                  <a:srgbClr val="CBD5E1"/>
                </a:solidFill>
              </a:defRPr>
            </a:pPr>
            <a:r>
              <a:t>Interoperable with electronic Logistics Management Information Systems for automated vaccine replenishment.</a:t>
            </a:r>
          </a:p>
          <a:p>
            <a:pPr>
              <a:spcBef>
                <a:spcPts val="1200"/>
              </a:spcBef>
              <a:defRPr sz="1200" b="1">
                <a:solidFill>
                  <a:srgbClr val="FFFFFF"/>
                </a:solidFill>
              </a:defRPr>
            </a:pPr>
            <a:r>
              <a:t>✔  100% Data Sovereignty</a:t>
            </a:r>
          </a:p>
          <a:p>
            <a:pPr>
              <a:spcBef>
                <a:spcPts val="200"/>
              </a:spcBef>
              <a:defRPr sz="1000">
                <a:solidFill>
                  <a:srgbClr val="CBD5E1"/>
                </a:solidFill>
              </a:defRPr>
            </a:pPr>
            <a:r>
              <a:t>Deployable on sovereign government cloud or national data centres with AES-256 encryption at rest and TLS 1.3 in transit.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Quantified Impact &amp; Return on Investment (ROI)</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2542032"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3600" b="1">
                <a:solidFill>
                  <a:srgbClr val="008080"/>
                </a:solidFill>
              </a:defRPr>
            </a:pPr>
            <a:r>
              <a:t>50%</a:t>
            </a:r>
          </a:p>
          <a:p>
            <a:pPr>
              <a:spcBef>
                <a:spcPts val="800"/>
              </a:spcBef>
              <a:defRPr sz="1300" b="1">
                <a:solidFill>
                  <a:srgbClr val="1B365D"/>
                </a:solidFill>
              </a:defRPr>
            </a:pPr>
            <a:r>
              <a:t>Reduction in Planning Time</a:t>
            </a:r>
          </a:p>
          <a:p>
            <a:pPr>
              <a:spcBef>
                <a:spcPts val="800"/>
              </a:spcBef>
              <a:defRPr sz="1050">
                <a:solidFill>
                  <a:srgbClr val="1E293B"/>
                </a:solidFill>
              </a:defRPr>
            </a:pPr>
            <a:r>
              <a:t>Cuts the national microplanning cycle from 8 weeks down to under 3 weeks.</a:t>
            </a:r>
          </a:p>
        </p:txBody>
      </p:sp>
      <p:sp>
        <p:nvSpPr>
          <p:cNvPr id="7" name="Rounded Rectangle 6"/>
          <p:cNvSpPr/>
          <p:nvPr/>
        </p:nvSpPr>
        <p:spPr>
          <a:xfrm>
            <a:off x="3456432" y="1463040"/>
            <a:ext cx="2542032"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3600" b="1">
                <a:solidFill>
                  <a:srgbClr val="10B981"/>
                </a:solidFill>
              </a:defRPr>
            </a:pPr>
            <a:r>
              <a:t>22%</a:t>
            </a:r>
          </a:p>
          <a:p>
            <a:pPr>
              <a:spcBef>
                <a:spcPts val="800"/>
              </a:spcBef>
              <a:defRPr sz="1300" b="1">
                <a:solidFill>
                  <a:srgbClr val="1B365D"/>
                </a:solidFill>
              </a:defRPr>
            </a:pPr>
            <a:r>
              <a:t>Coverage Gain in Zero-Dose Areas</a:t>
            </a:r>
          </a:p>
          <a:p>
            <a:pPr>
              <a:spcBef>
                <a:spcPts val="800"/>
              </a:spcBef>
              <a:defRPr sz="1050">
                <a:solidFill>
                  <a:srgbClr val="1E293B"/>
                </a:solidFill>
              </a:defRPr>
            </a:pPr>
            <a:r>
              <a:t>Proven increase in routine vaccination coverage in remote target catchments.</a:t>
            </a:r>
          </a:p>
        </p:txBody>
      </p:sp>
      <p:sp>
        <p:nvSpPr>
          <p:cNvPr id="8" name="Rounded Rectangle 7"/>
          <p:cNvSpPr/>
          <p:nvPr/>
        </p:nvSpPr>
        <p:spPr>
          <a:xfrm>
            <a:off x="6181344" y="1463040"/>
            <a:ext cx="2542032"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3600" b="1">
                <a:solidFill>
                  <a:srgbClr val="0284C7"/>
                </a:solidFill>
              </a:defRPr>
            </a:pPr>
            <a:r>
              <a:t>20%</a:t>
            </a:r>
          </a:p>
          <a:p>
            <a:pPr>
              <a:spcBef>
                <a:spcPts val="800"/>
              </a:spcBef>
              <a:defRPr sz="1300" b="1">
                <a:solidFill>
                  <a:srgbClr val="1B365D"/>
                </a:solidFill>
              </a:defRPr>
            </a:pPr>
            <a:r>
              <a:t>Reduction in Vaccine Wastage</a:t>
            </a:r>
          </a:p>
          <a:p>
            <a:pPr>
              <a:spcBef>
                <a:spcPts val="800"/>
              </a:spcBef>
              <a:defRPr sz="1050">
                <a:solidFill>
                  <a:srgbClr val="1E293B"/>
                </a:solidFill>
              </a:defRPr>
            </a:pPr>
            <a:r>
              <a:t>Precision multi-antigen sizing and cold chain volume matching prevent stockouts and spoilage.</a:t>
            </a:r>
          </a:p>
        </p:txBody>
      </p:sp>
      <p:sp>
        <p:nvSpPr>
          <p:cNvPr id="9" name="Rounded Rectangle 8"/>
          <p:cNvSpPr/>
          <p:nvPr/>
        </p:nvSpPr>
        <p:spPr>
          <a:xfrm>
            <a:off x="8906256" y="1463040"/>
            <a:ext cx="2542032"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sz="3600" b="1">
                <a:solidFill>
                  <a:srgbClr val="D97706"/>
                </a:solidFill>
              </a:defRPr>
            </a:pPr>
            <a:r>
              <a:t>$34</a:t>
            </a:r>
          </a:p>
          <a:p>
            <a:pPr>
              <a:spcBef>
                <a:spcPts val="800"/>
              </a:spcBef>
              <a:defRPr sz="1300" b="1">
                <a:solidFill>
                  <a:srgbClr val="1B365D"/>
                </a:solidFill>
              </a:defRPr>
            </a:pPr>
            <a:r>
              <a:t>Return per $1 Invested</a:t>
            </a:r>
          </a:p>
          <a:p>
            <a:pPr>
              <a:spcBef>
                <a:spcPts val="800"/>
              </a:spcBef>
              <a:defRPr sz="1050">
                <a:solidFill>
                  <a:srgbClr val="1E293B"/>
                </a:solidFill>
              </a:defRPr>
            </a:pPr>
            <a:r>
              <a:t>Global health economic return from averted medical treatment, hospitalizations, and outbreak response.</a:t>
            </a:r>
          </a:p>
        </p:txBody>
      </p:sp>
      <p:sp>
        <p:nvSpPr>
          <p:cNvPr id="10" name="Rounded Rectangle 9"/>
          <p:cNvSpPr/>
          <p:nvPr/>
        </p:nvSpPr>
        <p:spPr>
          <a:xfrm>
            <a:off x="731520" y="4800600"/>
            <a:ext cx="10728655" cy="137160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200" b="1">
                <a:solidFill>
                  <a:srgbClr val="0284C7"/>
                </a:solidFill>
              </a:defRPr>
            </a:pPr>
            <a:r>
              <a:t>ECONOMIC PROJECTIONS (TYPICAL 20-DISTRICT SCALE)</a:t>
            </a:r>
          </a:p>
          <a:p>
            <a:pPr>
              <a:spcBef>
                <a:spcPts val="400"/>
              </a:spcBef>
              <a:defRPr sz="1100">
                <a:solidFill>
                  <a:srgbClr val="FFFFFF"/>
                </a:solidFill>
              </a:defRPr>
            </a:pPr>
            <a:r>
              <a:t>• Annual Direct Cost Savings: $1.8M saved through optimized transport routes, bulk procurement accuracy, and eliminated paperwork.</a:t>
            </a:r>
            <a:br/>
            <a:r>
              <a:t>• Lives Protected: Over 240,000 additional under-1 infants reached with full primary immunization series.</a:t>
            </a:r>
            <a:br/>
            <a:r>
              <a:t>• Audit Compliance: 100% traceable operational funds down to nurse per diems, boat fuel receipts, and community mobilizers.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Inside VaxPlan: The 12-Step Guided Microplanning Journey</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45643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77240"/>
          <a:lstStyle/>
          <a:p>
            <a:pPr algn="ctr"/>
          </a:p>
          <a:p>
            <a:pPr>
              <a:spcBef>
                <a:spcPts val="1000"/>
              </a:spcBef>
              <a:defRPr sz="1100" b="1">
                <a:solidFill>
                  <a:srgbClr val="1B365D"/>
                </a:solidFill>
              </a:defRPr>
            </a:pPr>
            <a:r>
              <a:t>Step 1: Quantitative Analysis</a:t>
            </a:r>
          </a:p>
          <a:p>
            <a:pPr>
              <a:spcBef>
                <a:spcPts val="200"/>
              </a:spcBef>
              <a:defRPr sz="950">
                <a:solidFill>
                  <a:srgbClr val="1E293B"/>
                </a:solidFill>
              </a:defRPr>
            </a:pPr>
            <a:r>
              <a:t>Auto-populates historical clinic coverage, population, and dropouts.</a:t>
            </a:r>
          </a:p>
          <a:p>
            <a:pPr>
              <a:spcBef>
                <a:spcPts val="1000"/>
              </a:spcBef>
              <a:defRPr sz="1100" b="1">
                <a:solidFill>
                  <a:srgbClr val="1B365D"/>
                </a:solidFill>
              </a:defRPr>
            </a:pPr>
            <a:r>
              <a:t>Step 2: Operational Mapping</a:t>
            </a:r>
          </a:p>
          <a:p>
            <a:pPr>
              <a:spcBef>
                <a:spcPts val="200"/>
              </a:spcBef>
              <a:defRPr sz="950">
                <a:solidFill>
                  <a:srgbClr val="1E293B"/>
                </a:solidFill>
              </a:defRPr>
            </a:pPr>
            <a:r>
              <a:t>Pins village GPS coordinates, terrain barriers, and travel times.</a:t>
            </a:r>
          </a:p>
          <a:p>
            <a:pPr>
              <a:spcBef>
                <a:spcPts val="1000"/>
              </a:spcBef>
              <a:defRPr sz="1100" b="1">
                <a:solidFill>
                  <a:srgbClr val="1B365D"/>
                </a:solidFill>
              </a:defRPr>
            </a:pPr>
            <a:r>
              <a:t>Step 3: RED Categorisation</a:t>
            </a:r>
          </a:p>
          <a:p>
            <a:pPr>
              <a:spcBef>
                <a:spcPts val="200"/>
              </a:spcBef>
              <a:defRPr sz="950">
                <a:solidFill>
                  <a:srgbClr val="1E293B"/>
                </a:solidFill>
              </a:defRPr>
            </a:pPr>
            <a:r>
              <a:t>Classifies facility into Categories 1–4 to guide intervention strategy.</a:t>
            </a:r>
          </a:p>
        </p:txBody>
      </p:sp>
      <p:sp>
        <p:nvSpPr>
          <p:cNvPr id="7" name="Rectangle 6"/>
          <p:cNvSpPr/>
          <p:nvPr/>
        </p:nvSpPr>
        <p:spPr>
          <a:xfrm>
            <a:off x="731520" y="1463040"/>
            <a:ext cx="3456432" cy="6400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Phase 1: Foundation &amp; Risk</a:t>
            </a:r>
          </a:p>
          <a:p>
            <a:pPr>
              <a:defRPr sz="950">
                <a:solidFill>
                  <a:srgbClr val="E0F2FE"/>
                </a:solidFill>
              </a:defRPr>
            </a:pPr>
            <a:r>
              <a:t>STEPS 1 TO 3</a:t>
            </a:r>
          </a:p>
        </p:txBody>
      </p:sp>
      <p:sp>
        <p:nvSpPr>
          <p:cNvPr id="8" name="Rounded Rectangle 7"/>
          <p:cNvSpPr/>
          <p:nvPr/>
        </p:nvSpPr>
        <p:spPr>
          <a:xfrm>
            <a:off x="4370832" y="1463040"/>
            <a:ext cx="345643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77240"/>
          <a:lstStyle/>
          <a:p>
            <a:pPr algn="ctr"/>
          </a:p>
          <a:p>
            <a:pPr>
              <a:spcBef>
                <a:spcPts val="1000"/>
              </a:spcBef>
              <a:defRPr sz="1100" b="1">
                <a:solidFill>
                  <a:srgbClr val="1B365D"/>
                </a:solidFill>
              </a:defRPr>
            </a:pPr>
            <a:r>
              <a:t>Step 4 &amp; 5: Session Schedules</a:t>
            </a:r>
          </a:p>
          <a:p>
            <a:pPr>
              <a:spcBef>
                <a:spcPts val="200"/>
              </a:spcBef>
              <a:defRPr sz="950">
                <a:solidFill>
                  <a:srgbClr val="1E293B"/>
                </a:solidFill>
              </a:defRPr>
            </a:pPr>
            <a:r>
              <a:t>Allocates fixed clinics, outreach posts, and mobile team routes.</a:t>
            </a:r>
          </a:p>
          <a:p>
            <a:pPr>
              <a:spcBef>
                <a:spcPts val="1000"/>
              </a:spcBef>
              <a:defRPr sz="1100" b="1">
                <a:solidFill>
                  <a:srgbClr val="1B365D"/>
                </a:solidFill>
              </a:defRPr>
            </a:pPr>
            <a:r>
              <a:t>Step 6: Supply &amp; Cold Chain</a:t>
            </a:r>
          </a:p>
          <a:p>
            <a:pPr>
              <a:spcBef>
                <a:spcPts val="200"/>
              </a:spcBef>
              <a:defRPr sz="950">
                <a:solidFill>
                  <a:srgbClr val="1E293B"/>
                </a:solidFill>
              </a:defRPr>
            </a:pPr>
            <a:r>
              <a:t>Sizes multi-antigen vials, syringes, safety boxes &amp; fridge volume.</a:t>
            </a:r>
          </a:p>
          <a:p>
            <a:pPr>
              <a:spcBef>
                <a:spcPts val="1000"/>
              </a:spcBef>
              <a:defRPr sz="1100" b="1">
                <a:solidFill>
                  <a:srgbClr val="1B365D"/>
                </a:solidFill>
              </a:defRPr>
            </a:pPr>
            <a:r>
              <a:t>Step 7 &amp; 8: Community Mobilization</a:t>
            </a:r>
          </a:p>
          <a:p>
            <a:pPr>
              <a:spcBef>
                <a:spcPts val="200"/>
              </a:spcBef>
              <a:defRPr sz="950">
                <a:solidFill>
                  <a:srgbClr val="1E293B"/>
                </a:solidFill>
              </a:defRPr>
            </a:pPr>
            <a:r>
              <a:t>Registers village mobilizers, CSOs, and defaulter tracking plans.</a:t>
            </a:r>
          </a:p>
        </p:txBody>
      </p:sp>
      <p:sp>
        <p:nvSpPr>
          <p:cNvPr id="9" name="Rectangle 8"/>
          <p:cNvSpPr/>
          <p:nvPr/>
        </p:nvSpPr>
        <p:spPr>
          <a:xfrm>
            <a:off x="4370832" y="1463040"/>
            <a:ext cx="3456432" cy="64008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Phase 2: Delivery &amp; Logistics</a:t>
            </a:r>
          </a:p>
          <a:p>
            <a:pPr>
              <a:defRPr sz="950">
                <a:solidFill>
                  <a:srgbClr val="E0F2FE"/>
                </a:solidFill>
              </a:defRPr>
            </a:pPr>
            <a:r>
              <a:t>STEPS 4 TO 8</a:t>
            </a:r>
          </a:p>
        </p:txBody>
      </p:sp>
      <p:sp>
        <p:nvSpPr>
          <p:cNvPr id="10" name="Rounded Rectangle 9"/>
          <p:cNvSpPr/>
          <p:nvPr/>
        </p:nvSpPr>
        <p:spPr>
          <a:xfrm>
            <a:off x="8010144" y="1463040"/>
            <a:ext cx="345643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77240"/>
          <a:lstStyle/>
          <a:p>
            <a:pPr algn="ctr"/>
          </a:p>
          <a:p>
            <a:pPr>
              <a:spcBef>
                <a:spcPts val="1000"/>
              </a:spcBef>
              <a:defRPr sz="1100" b="1">
                <a:solidFill>
                  <a:srgbClr val="1B365D"/>
                </a:solidFill>
              </a:defRPr>
            </a:pPr>
            <a:r>
              <a:t>Step 9 &amp; 10: Operational Budget</a:t>
            </a:r>
          </a:p>
          <a:p>
            <a:pPr>
              <a:spcBef>
                <a:spcPts val="200"/>
              </a:spcBef>
              <a:defRPr sz="950">
                <a:solidFill>
                  <a:srgbClr val="1E293B"/>
                </a:solidFill>
              </a:defRPr>
            </a:pPr>
            <a:r>
              <a:t>Synthesizes per diems, transport, fuel, and supplies into one total.</a:t>
            </a:r>
          </a:p>
          <a:p>
            <a:pPr>
              <a:spcBef>
                <a:spcPts val="1000"/>
              </a:spcBef>
              <a:defRPr sz="1100" b="1">
                <a:solidFill>
                  <a:srgbClr val="1B365D"/>
                </a:solidFill>
              </a:defRPr>
            </a:pPr>
            <a:r>
              <a:t>Step 11: Policy Review Gate</a:t>
            </a:r>
          </a:p>
          <a:p>
            <a:pPr>
              <a:spcBef>
                <a:spcPts val="200"/>
              </a:spcBef>
              <a:defRPr sz="950">
                <a:solidFill>
                  <a:srgbClr val="1E293B"/>
                </a:solidFill>
              </a:defRPr>
            </a:pPr>
            <a:r>
              <a:t>Mandates 7-day stakeholder review window before sign-off eligibility.</a:t>
            </a:r>
          </a:p>
          <a:p>
            <a:pPr>
              <a:spcBef>
                <a:spcPts val="1000"/>
              </a:spcBef>
              <a:defRPr sz="1100" b="1">
                <a:solidFill>
                  <a:srgbClr val="1B365D"/>
                </a:solidFill>
              </a:defRPr>
            </a:pPr>
            <a:r>
              <a:t>Step 12: Final Approval &amp; Sync</a:t>
            </a:r>
          </a:p>
          <a:p>
            <a:pPr>
              <a:spcBef>
                <a:spcPts val="200"/>
              </a:spcBef>
              <a:defRPr sz="950">
                <a:solidFill>
                  <a:srgbClr val="1E293B"/>
                </a:solidFill>
              </a:defRPr>
            </a:pPr>
            <a:r>
              <a:t>Multi-tier electronic sign-off and direct transmission to DHIS2.</a:t>
            </a:r>
          </a:p>
        </p:txBody>
      </p:sp>
      <p:sp>
        <p:nvSpPr>
          <p:cNvPr id="11" name="Rectangle 10"/>
          <p:cNvSpPr/>
          <p:nvPr/>
        </p:nvSpPr>
        <p:spPr>
          <a:xfrm>
            <a:off x="8010144" y="1463040"/>
            <a:ext cx="3456432"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Phase 3: Budgeting &amp; Approvals</a:t>
            </a:r>
          </a:p>
          <a:p>
            <a:pPr>
              <a:defRPr sz="950">
                <a:solidFill>
                  <a:srgbClr val="E0F2FE"/>
                </a:solidFill>
              </a:defRPr>
            </a:pPr>
            <a:r>
              <a:t>STEPS 9 TO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Rigorous Governance, Security &amp; Multi-Tier Access</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463040"/>
          <a:ext cx="10728655" cy="3657600"/>
        </p:xfrm>
        <a:graphic>
          <a:graphicData uri="http://schemas.openxmlformats.org/drawingml/2006/table">
            <a:tbl>
              <a:tblPr firstRow="1" bandRow="1">
                <a:tableStyleId>{5C22544A-7EE6-4342-B048-85BDC9FD1C3A}</a:tableStyleId>
              </a:tblPr>
              <a:tblGrid>
                <a:gridCol w="2560320"/>
                <a:gridCol w="4754880"/>
                <a:gridCol w="3413455"/>
              </a:tblGrid>
              <a:tr h="609600">
                <a:tc>
                  <a:txBody>
                    <a:bodyPr/>
                    <a:lstStyle/>
                    <a:p>
                      <a:pPr>
                        <a:defRPr sz="1200" b="1">
                          <a:solidFill>
                            <a:srgbClr val="FFFFFF"/>
                          </a:solidFill>
                        </a:defRPr>
                      </a:pPr>
                      <a:r>
                        <a:t>User Role</a:t>
                      </a:r>
                    </a:p>
                  </a:txBody>
                  <a:tcPr>
                    <a:solidFill>
                      <a:srgbClr val="1B365D"/>
                    </a:solidFill>
                  </a:tcPr>
                </a:tc>
                <a:tc>
                  <a:txBody>
                    <a:bodyPr/>
                    <a:lstStyle/>
                    <a:p>
                      <a:pPr>
                        <a:defRPr sz="1200" b="1">
                          <a:solidFill>
                            <a:srgbClr val="FFFFFF"/>
                          </a:solidFill>
                        </a:defRPr>
                      </a:pPr>
                      <a:r>
                        <a:t>System Permissions &amp; Scope</a:t>
                      </a:r>
                    </a:p>
                  </a:txBody>
                  <a:tcPr>
                    <a:solidFill>
                      <a:srgbClr val="1B365D"/>
                    </a:solidFill>
                  </a:tcPr>
                </a:tc>
                <a:tc>
                  <a:txBody>
                    <a:bodyPr/>
                    <a:lstStyle/>
                    <a:p>
                      <a:pPr>
                        <a:defRPr sz="1200" b="1">
                          <a:solidFill>
                            <a:srgbClr val="FFFFFF"/>
                          </a:solidFill>
                        </a:defRPr>
                      </a:pPr>
                      <a:r>
                        <a:t>Governance Value</a:t>
                      </a:r>
                    </a:p>
                  </a:txBody>
                  <a:tcPr>
                    <a:solidFill>
                      <a:srgbClr val="1B365D"/>
                    </a:solidFill>
                  </a:tcPr>
                </a:tc>
              </a:tr>
              <a:tr h="609600">
                <a:tc>
                  <a:txBody>
                    <a:bodyPr/>
                    <a:lstStyle/>
                    <a:p>
                      <a:pPr>
                        <a:defRPr sz="1000">
                          <a:solidFill>
                            <a:srgbClr val="1E293B"/>
                          </a:solidFill>
                        </a:defRPr>
                      </a:pPr>
                      <a:r>
                        <a:t>National / MOH Superadmin</a:t>
                      </a:r>
                    </a:p>
                  </a:txBody>
                  <a:tcPr>
                    <a:solidFill>
                      <a:srgbClr val="FFFFFF"/>
                    </a:solidFill>
                  </a:tcPr>
                </a:tc>
                <a:tc>
                  <a:txBody>
                    <a:bodyPr/>
                    <a:lstStyle/>
                    <a:p>
                      <a:pPr>
                        <a:defRPr sz="1000">
                          <a:solidFill>
                            <a:srgbClr val="1E293B"/>
                          </a:solidFill>
                        </a:defRPr>
                      </a:pPr>
                      <a:r>
                        <a:t>National policy configuration, tenant provisioning, cross-province analytics, and national export generation.</a:t>
                      </a:r>
                    </a:p>
                  </a:txBody>
                  <a:tcPr>
                    <a:solidFill>
                      <a:srgbClr val="FFFFFF"/>
                    </a:solidFill>
                  </a:tcPr>
                </a:tc>
                <a:tc>
                  <a:txBody>
                    <a:bodyPr/>
                    <a:lstStyle/>
                    <a:p>
                      <a:pPr>
                        <a:defRPr sz="1000">
                          <a:solidFill>
                            <a:srgbClr val="1E293B"/>
                          </a:solidFill>
                        </a:defRPr>
                      </a:pPr>
                      <a:r>
                        <a:t>Enforces national immunization strategy.</a:t>
                      </a:r>
                    </a:p>
                  </a:txBody>
                  <a:tcPr>
                    <a:solidFill>
                      <a:srgbClr val="FFFFFF"/>
                    </a:solidFill>
                  </a:tcPr>
                </a:tc>
              </a:tr>
              <a:tr h="609600">
                <a:tc>
                  <a:txBody>
                    <a:bodyPr/>
                    <a:lstStyle/>
                    <a:p>
                      <a:pPr>
                        <a:defRPr sz="1000">
                          <a:solidFill>
                            <a:srgbClr val="1E293B"/>
                          </a:solidFill>
                        </a:defRPr>
                      </a:pPr>
                      <a:r>
                        <a:t>Provincial / Regional Coordinator</a:t>
                      </a:r>
                    </a:p>
                  </a:txBody>
                  <a:tcPr>
                    <a:solidFill>
                      <a:srgbClr val="F1F5F9"/>
                    </a:solidFill>
                  </a:tcPr>
                </a:tc>
                <a:tc>
                  <a:txBody>
                    <a:bodyPr/>
                    <a:lstStyle/>
                    <a:p>
                      <a:pPr>
                        <a:defRPr sz="1000">
                          <a:solidFill>
                            <a:srgbClr val="1E293B"/>
                          </a:solidFill>
                        </a:defRPr>
                      </a:pPr>
                      <a:r>
                        <a:t>Inter-district resource allocation, provincial progress tracking, and regional microplan review.</a:t>
                      </a:r>
                    </a:p>
                  </a:txBody>
                  <a:tcPr>
                    <a:solidFill>
                      <a:srgbClr val="F1F5F9"/>
                    </a:solidFill>
                  </a:tcPr>
                </a:tc>
                <a:tc>
                  <a:txBody>
                    <a:bodyPr/>
                    <a:lstStyle/>
                    <a:p>
                      <a:pPr>
                        <a:defRPr sz="1000">
                          <a:solidFill>
                            <a:srgbClr val="1E293B"/>
                          </a:solidFill>
                        </a:defRPr>
                      </a:pPr>
                      <a:r>
                        <a:t>Identifies cross-district logistical gaps.</a:t>
                      </a:r>
                    </a:p>
                  </a:txBody>
                  <a:tcPr>
                    <a:solidFill>
                      <a:srgbClr val="F1F5F9"/>
                    </a:solidFill>
                  </a:tcPr>
                </a:tc>
              </a:tr>
              <a:tr h="609600">
                <a:tc>
                  <a:txBody>
                    <a:bodyPr/>
                    <a:lstStyle/>
                    <a:p>
                      <a:pPr>
                        <a:defRPr sz="1000">
                          <a:solidFill>
                            <a:srgbClr val="1E293B"/>
                          </a:solidFill>
                        </a:defRPr>
                      </a:pPr>
                      <a:r>
                        <a:t>District Health Executive (DMO/EPI)</a:t>
                      </a:r>
                    </a:p>
                  </a:txBody>
                  <a:tcPr>
                    <a:solidFill>
                      <a:srgbClr val="FFFFFF"/>
                    </a:solidFill>
                  </a:tcPr>
                </a:tc>
                <a:tc>
                  <a:txBody>
                    <a:bodyPr/>
                    <a:lstStyle/>
                    <a:p>
                      <a:pPr>
                        <a:defRPr sz="1000">
                          <a:solidFill>
                            <a:srgbClr val="1E293B"/>
                          </a:solidFill>
                        </a:defRPr>
                      </a:pPr>
                      <a:r>
                        <a:t>Detailed plan review, budget verification, multi-facility aggregation, and approval authorization.</a:t>
                      </a:r>
                    </a:p>
                  </a:txBody>
                  <a:tcPr>
                    <a:solidFill>
                      <a:srgbClr val="FFFFFF"/>
                    </a:solidFill>
                  </a:tcPr>
                </a:tc>
                <a:tc>
                  <a:txBody>
                    <a:bodyPr/>
                    <a:lstStyle/>
                    <a:p>
                      <a:pPr>
                        <a:defRPr sz="1000">
                          <a:solidFill>
                            <a:srgbClr val="1E293B"/>
                          </a:solidFill>
                        </a:defRPr>
                      </a:pPr>
                      <a:r>
                        <a:t>Prevents inflated or unverified budgets.</a:t>
                      </a:r>
                    </a:p>
                  </a:txBody>
                  <a:tcPr>
                    <a:solidFill>
                      <a:srgbClr val="FFFFFF"/>
                    </a:solidFill>
                  </a:tcPr>
                </a:tc>
              </a:tr>
              <a:tr h="609600">
                <a:tc>
                  <a:txBody>
                    <a:bodyPr/>
                    <a:lstStyle/>
                    <a:p>
                      <a:pPr>
                        <a:defRPr sz="1000">
                          <a:solidFill>
                            <a:srgbClr val="1E293B"/>
                          </a:solidFill>
                        </a:defRPr>
                      </a:pPr>
                      <a:r>
                        <a:t>Facility Planner (Nurse In-Charge)</a:t>
                      </a:r>
                    </a:p>
                  </a:txBody>
                  <a:tcPr>
                    <a:solidFill>
                      <a:srgbClr val="F1F5F9"/>
                    </a:solidFill>
                  </a:tcPr>
                </a:tc>
                <a:tc>
                  <a:txBody>
                    <a:bodyPr/>
                    <a:lstStyle/>
                    <a:p>
                      <a:pPr>
                        <a:defRPr sz="1000">
                          <a:solidFill>
                            <a:srgbClr val="1E293B"/>
                          </a:solidFill>
                        </a:defRPr>
                      </a:pPr>
                      <a:r>
                        <a:t>Catchment settlement geocoding, session scheduling, supply sizing, and local workplan execution.</a:t>
                      </a:r>
                    </a:p>
                  </a:txBody>
                  <a:tcPr>
                    <a:solidFill>
                      <a:srgbClr val="F1F5F9"/>
                    </a:solidFill>
                  </a:tcPr>
                </a:tc>
                <a:tc>
                  <a:txBody>
                    <a:bodyPr/>
                    <a:lstStyle/>
                    <a:p>
                      <a:pPr>
                        <a:defRPr sz="1000">
                          <a:solidFill>
                            <a:srgbClr val="1E293B"/>
                          </a:solidFill>
                        </a:defRPr>
                      </a:pPr>
                      <a:r>
                        <a:t>Eliminates administrative burden.</a:t>
                      </a:r>
                    </a:p>
                  </a:txBody>
                  <a:tcPr>
                    <a:solidFill>
                      <a:srgbClr val="F1F5F9"/>
                    </a:solidFill>
                  </a:tcPr>
                </a:tc>
              </a:tr>
              <a:tr h="609600">
                <a:tc>
                  <a:txBody>
                    <a:bodyPr/>
                    <a:lstStyle/>
                    <a:p>
                      <a:pPr>
                        <a:defRPr sz="1000">
                          <a:solidFill>
                            <a:srgbClr val="1E293B"/>
                          </a:solidFill>
                        </a:defRPr>
                      </a:pPr>
                      <a:r>
                        <a:t>Auditor / Donor / Partner</a:t>
                      </a:r>
                    </a:p>
                  </a:txBody>
                  <a:tcPr>
                    <a:solidFill>
                      <a:srgbClr val="FFFFFF"/>
                    </a:solidFill>
                  </a:tcPr>
                </a:tc>
                <a:tc>
                  <a:txBody>
                    <a:bodyPr/>
                    <a:lstStyle/>
                    <a:p>
                      <a:pPr>
                        <a:defRPr sz="1000">
                          <a:solidFill>
                            <a:srgbClr val="1E293B"/>
                          </a:solidFill>
                        </a:defRPr>
                      </a:pPr>
                      <a:r>
                        <a:t>Read-only oversight, expenditure audit trail, coverage progress tracking, and grant verification.</a:t>
                      </a:r>
                    </a:p>
                  </a:txBody>
                  <a:tcPr>
                    <a:solidFill>
                      <a:srgbClr val="FFFFFF"/>
                    </a:solidFill>
                  </a:tcPr>
                </a:tc>
                <a:tc>
                  <a:txBody>
                    <a:bodyPr/>
                    <a:lstStyle/>
                    <a:p>
                      <a:pPr>
                        <a:defRPr sz="1000">
                          <a:solidFill>
                            <a:srgbClr val="1E293B"/>
                          </a:solidFill>
                        </a:defRPr>
                      </a:pPr>
                      <a:r>
                        <a:t>Guarantees 100% financial transparency.</a:t>
                      </a:r>
                    </a:p>
                  </a:txBody>
                  <a:tcPr>
                    <a:solidFill>
                      <a:srgbClr val="FFFFFF"/>
                    </a:solidFill>
                  </a:tcPr>
                </a:tc>
              </a:tr>
            </a:tbl>
          </a:graphicData>
        </a:graphic>
      </p:graphicFrame>
      <p:sp>
        <p:nvSpPr>
          <p:cNvPr id="7" name="Rounded Rectangle 6"/>
          <p:cNvSpPr/>
          <p:nvPr/>
        </p:nvSpPr>
        <p:spPr>
          <a:xfrm>
            <a:off x="731520" y="5349240"/>
            <a:ext cx="10728655" cy="100584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50" b="1">
                <a:solidFill>
                  <a:srgbClr val="0284C7"/>
                </a:solidFill>
              </a:defRPr>
            </a:pPr>
            <a:r>
              <a:t>DATA SAFETY &amp; IMMUTABILITY COMMITMENTS</a:t>
            </a:r>
          </a:p>
          <a:p>
            <a:pPr>
              <a:spcBef>
                <a:spcPts val="300"/>
              </a:spcBef>
              <a:defRPr sz="950">
                <a:solidFill>
                  <a:srgbClr val="FFFFFF"/>
                </a:solidFill>
              </a:defRPr>
            </a:pPr>
            <a:r>
              <a:t>• Zero-Destructive Database Architecture: Upsert-only design prevents accidental plan deletion.</a:t>
            </a:r>
            <a:br/>
            <a:r>
              <a:t>• Version Event Tracking: Every draft opened, edited, saved, or closed creates an immutable snapshot.</a:t>
            </a:r>
            <a:br/>
            <a:r>
              <a:t>• Encryption: AES-256 for data at rest and TLS 1.3 for data in transit.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Tailored Value for Every Health Sector Stakeholder</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422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1B365D"/>
                </a:solidFill>
              </a:defRPr>
            </a:pPr>
            <a:r>
              <a:t>Ministries of Health &amp; EPI</a:t>
            </a:r>
          </a:p>
          <a:p>
            <a:pPr>
              <a:spcBef>
                <a:spcPts val="800"/>
              </a:spcBef>
              <a:defRPr sz="1100">
                <a:solidFill>
                  <a:srgbClr val="1E293B"/>
                </a:solidFill>
              </a:defRPr>
            </a:pPr>
            <a:r>
              <a:t>• Sovereign ownership of digitized national microplans.</a:t>
            </a:r>
            <a:br/>
            <a:r>
              <a:t>• Eliminates paper backlog and accelerates DTP3 targets.</a:t>
            </a:r>
            <a:br/>
            <a:r>
              <a:t>• Optimized resource allocation across underserved districts.</a:t>
            </a:r>
          </a:p>
        </p:txBody>
      </p:sp>
      <p:sp>
        <p:nvSpPr>
          <p:cNvPr id="7" name="Rectangle 6"/>
          <p:cNvSpPr/>
          <p:nvPr/>
        </p:nvSpPr>
        <p:spPr>
          <a:xfrm>
            <a:off x="731520" y="1463040"/>
            <a:ext cx="5242255" cy="9144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422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08080"/>
                </a:solidFill>
              </a:defRPr>
            </a:pPr>
            <a:r>
              <a:t>Global Donors (Gavi, BMGF)</a:t>
            </a:r>
          </a:p>
          <a:p>
            <a:pPr>
              <a:spcBef>
                <a:spcPts val="800"/>
              </a:spcBef>
              <a:defRPr sz="1100">
                <a:solidFill>
                  <a:srgbClr val="1E293B"/>
                </a:solidFill>
              </a:defRPr>
            </a:pPr>
            <a:r>
              <a:t>• Verifiable proof of investment down to individual clinics.</a:t>
            </a:r>
            <a:br/>
            <a:r>
              <a:t>• Accelerated progress on Zero-Dose reduction targets.</a:t>
            </a:r>
            <a:br/>
            <a:r>
              <a:t>• Transparent, auditable grant expenditure tracking.</a:t>
            </a:r>
          </a:p>
        </p:txBody>
      </p:sp>
      <p:sp>
        <p:nvSpPr>
          <p:cNvPr id="9" name="Rectangle 8"/>
          <p:cNvSpPr/>
          <p:nvPr/>
        </p:nvSpPr>
        <p:spPr>
          <a:xfrm>
            <a:off x="6217920" y="1463040"/>
            <a:ext cx="5242255" cy="9144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886200"/>
            <a:ext cx="52422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284C7"/>
                </a:solidFill>
              </a:defRPr>
            </a:pPr>
            <a:r>
              <a:t>UN Agencies (UNICEF &amp; WHO)</a:t>
            </a:r>
          </a:p>
          <a:p>
            <a:pPr>
              <a:spcBef>
                <a:spcPts val="800"/>
              </a:spcBef>
              <a:defRPr sz="1100">
                <a:solidFill>
                  <a:srgbClr val="1E293B"/>
                </a:solidFill>
              </a:defRPr>
            </a:pPr>
            <a:r>
              <a:t>• 100% digital fidelity to WHO RED microplanning guidelines.</a:t>
            </a:r>
            <a:br/>
            <a:r>
              <a:t>• Real-time cold chain volume &amp; temperature monitoring.</a:t>
            </a:r>
            <a:br/>
            <a:r>
              <a:t>• Standardized national operational planning methodology.</a:t>
            </a:r>
          </a:p>
        </p:txBody>
      </p:sp>
      <p:sp>
        <p:nvSpPr>
          <p:cNvPr id="11" name="Rectangle 10"/>
          <p:cNvSpPr/>
          <p:nvPr/>
        </p:nvSpPr>
        <p:spPr>
          <a:xfrm>
            <a:off x="731520" y="3886200"/>
            <a:ext cx="524225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3886200"/>
            <a:ext cx="5242255"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D97706"/>
                </a:solidFill>
              </a:defRPr>
            </a:pPr>
            <a:r>
              <a:t>Frontline Health Workers</a:t>
            </a:r>
          </a:p>
          <a:p>
            <a:pPr>
              <a:spcBef>
                <a:spcPts val="800"/>
              </a:spcBef>
              <a:defRPr sz="1100">
                <a:solidFill>
                  <a:srgbClr val="1E293B"/>
                </a:solidFill>
              </a:defRPr>
            </a:pPr>
            <a:r>
              <a:t>• Eliminates 40+ pages of tedious manual paperwork.</a:t>
            </a:r>
            <a:br/>
            <a:r>
              <a:t>• Predictable, timely operational funding for outreach per diems.</a:t>
            </a:r>
            <a:br/>
            <a:r>
              <a:t>• Zero vaccine stockouts on scheduled clinic days.</a:t>
            </a:r>
          </a:p>
        </p:txBody>
      </p:sp>
      <p:sp>
        <p:nvSpPr>
          <p:cNvPr id="13" name="Rectangle 12"/>
          <p:cNvSpPr/>
          <p:nvPr/>
        </p:nvSpPr>
        <p:spPr>
          <a:xfrm>
            <a:off x="6217920" y="3886200"/>
            <a:ext cx="5242255"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Strategic Roadmap: From Pilot to National Scale</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456432"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868680"/>
          <a:lstStyle/>
          <a:p>
            <a:pPr algn="ctr">
              <a:spcBef>
                <a:spcPts val="1000"/>
              </a:spcBef>
              <a:defRPr sz="1100">
                <a:solidFill>
                  <a:srgbClr val="1E293B"/>
                </a:solidFill>
              </a:defRPr>
            </a:pPr>
            <a:r>
              <a:t>✔  Deploy in 2–4 high-priority pilot districts.</a:t>
            </a:r>
          </a:p>
          <a:p>
            <a:pPr>
              <a:spcBef>
                <a:spcPts val="1000"/>
              </a:spcBef>
              <a:defRPr sz="1100">
                <a:solidFill>
                  <a:srgbClr val="1E293B"/>
                </a:solidFill>
              </a:defRPr>
            </a:pPr>
            <a:r>
              <a:t>✔  Health facility geocoding &amp; baseline validation.</a:t>
            </a:r>
          </a:p>
          <a:p>
            <a:pPr>
              <a:spcBef>
                <a:spcPts val="1000"/>
              </a:spcBef>
              <a:defRPr sz="1100">
                <a:solidFill>
                  <a:srgbClr val="1E293B"/>
                </a:solidFill>
              </a:defRPr>
            </a:pPr>
            <a:r>
              <a:t>✔  Master Training of Trainers (ToT) for 50 nurses.</a:t>
            </a:r>
          </a:p>
          <a:p>
            <a:pPr>
              <a:spcBef>
                <a:spcPts val="1000"/>
              </a:spcBef>
              <a:defRPr sz="1100">
                <a:solidFill>
                  <a:srgbClr val="1E293B"/>
                </a:solidFill>
              </a:defRPr>
            </a:pPr>
            <a:r>
              <a:t>✔  First automated microplans synthesized &amp; approved.</a:t>
            </a:r>
          </a:p>
        </p:txBody>
      </p:sp>
      <p:sp>
        <p:nvSpPr>
          <p:cNvPr id="7" name="Rectangle 6"/>
          <p:cNvSpPr/>
          <p:nvPr/>
        </p:nvSpPr>
        <p:spPr>
          <a:xfrm>
            <a:off x="731520" y="1463040"/>
            <a:ext cx="3456432" cy="6858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Phase 1: Pilot &amp; Baseline</a:t>
            </a:r>
          </a:p>
          <a:p>
            <a:pPr>
              <a:defRPr sz="950">
                <a:solidFill>
                  <a:srgbClr val="E0F2FE"/>
                </a:solidFill>
              </a:defRPr>
            </a:pPr>
            <a:r>
              <a:t>MONTHS 1 TO 4</a:t>
            </a:r>
          </a:p>
        </p:txBody>
      </p:sp>
      <p:sp>
        <p:nvSpPr>
          <p:cNvPr id="8" name="Rounded Rectangle 7"/>
          <p:cNvSpPr/>
          <p:nvPr/>
        </p:nvSpPr>
        <p:spPr>
          <a:xfrm>
            <a:off x="4370832" y="1463040"/>
            <a:ext cx="3456432"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868680"/>
          <a:lstStyle/>
          <a:p>
            <a:pPr algn="ctr">
              <a:spcBef>
                <a:spcPts val="1000"/>
              </a:spcBef>
              <a:defRPr sz="1100">
                <a:solidFill>
                  <a:srgbClr val="1E293B"/>
                </a:solidFill>
              </a:defRPr>
            </a:pPr>
            <a:r>
              <a:t>✔  Expansion to 20+ districts (1 province/region).</a:t>
            </a:r>
          </a:p>
          <a:p>
            <a:pPr>
              <a:spcBef>
                <a:spcPts val="1000"/>
              </a:spcBef>
              <a:defRPr sz="1100">
                <a:solidFill>
                  <a:srgbClr val="1E293B"/>
                </a:solidFill>
              </a:defRPr>
            </a:pPr>
            <a:r>
              <a:t>✔  DHIS2 live aggregate reporting connector enabled.</a:t>
            </a:r>
          </a:p>
          <a:p>
            <a:pPr>
              <a:spcBef>
                <a:spcPts val="1000"/>
              </a:spcBef>
              <a:defRPr sz="1100">
                <a:solidFill>
                  <a:srgbClr val="1E293B"/>
                </a:solidFill>
              </a:defRPr>
            </a:pPr>
            <a:r>
              <a:t>✔  Cold chain refrigerator volume synchronization.</a:t>
            </a:r>
          </a:p>
          <a:p>
            <a:pPr>
              <a:spcBef>
                <a:spcPts val="1000"/>
              </a:spcBef>
              <a:defRPr sz="1100">
                <a:solidFill>
                  <a:srgbClr val="1E293B"/>
                </a:solidFill>
              </a:defRPr>
            </a:pPr>
            <a:r>
              <a:t>✔  District supervisory feedback loop institutionalized.</a:t>
            </a:r>
          </a:p>
        </p:txBody>
      </p:sp>
      <p:sp>
        <p:nvSpPr>
          <p:cNvPr id="9" name="Rectangle 8"/>
          <p:cNvSpPr/>
          <p:nvPr/>
        </p:nvSpPr>
        <p:spPr>
          <a:xfrm>
            <a:off x="4370832" y="1463040"/>
            <a:ext cx="3456432" cy="6858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Phase 2: Provincial Rollout</a:t>
            </a:r>
          </a:p>
          <a:p>
            <a:pPr>
              <a:defRPr sz="950">
                <a:solidFill>
                  <a:srgbClr val="E0F2FE"/>
                </a:solidFill>
              </a:defRPr>
            </a:pPr>
            <a:r>
              <a:t>MONTHS 5 TO 8</a:t>
            </a:r>
          </a:p>
        </p:txBody>
      </p:sp>
      <p:sp>
        <p:nvSpPr>
          <p:cNvPr id="10" name="Rounded Rectangle 9"/>
          <p:cNvSpPr/>
          <p:nvPr/>
        </p:nvSpPr>
        <p:spPr>
          <a:xfrm>
            <a:off x="8010144" y="1463040"/>
            <a:ext cx="3456432"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868680"/>
          <a:lstStyle/>
          <a:p>
            <a:pPr algn="ctr">
              <a:spcBef>
                <a:spcPts val="1000"/>
              </a:spcBef>
              <a:defRPr sz="1100">
                <a:solidFill>
                  <a:srgbClr val="1E293B"/>
                </a:solidFill>
              </a:defRPr>
            </a:pPr>
            <a:r>
              <a:t>✔  Nationwide rollout across all health facilities.</a:t>
            </a:r>
          </a:p>
          <a:p>
            <a:pPr>
              <a:spcBef>
                <a:spcPts val="1000"/>
              </a:spcBef>
              <a:defRPr sz="1100">
                <a:solidFill>
                  <a:srgbClr val="1E293B"/>
                </a:solidFill>
              </a:defRPr>
            </a:pPr>
            <a:r>
              <a:t>✔  Predictive AI dropout forecasting activated.</a:t>
            </a:r>
          </a:p>
          <a:p>
            <a:pPr>
              <a:spcBef>
                <a:spcPts val="1000"/>
              </a:spcBef>
              <a:defRPr sz="1100">
                <a:solidFill>
                  <a:srgbClr val="1E293B"/>
                </a:solidFill>
              </a:defRPr>
            </a:pPr>
            <a:r>
              <a:t>✔  National eLMIS vaccine supply order automation.</a:t>
            </a:r>
          </a:p>
          <a:p>
            <a:pPr>
              <a:spcBef>
                <a:spcPts val="1000"/>
              </a:spcBef>
              <a:defRPr sz="1100">
                <a:solidFill>
                  <a:srgbClr val="1E293B"/>
                </a:solidFill>
              </a:defRPr>
            </a:pPr>
            <a:r>
              <a:t>✔  Transition to 100% domestic recurrent financing.</a:t>
            </a:r>
          </a:p>
        </p:txBody>
      </p:sp>
      <p:sp>
        <p:nvSpPr>
          <p:cNvPr id="11" name="Rectangle 10"/>
          <p:cNvSpPr/>
          <p:nvPr/>
        </p:nvSpPr>
        <p:spPr>
          <a:xfrm>
            <a:off x="8010144" y="1463040"/>
            <a:ext cx="3456432" cy="6858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Phase 3: National Scale</a:t>
            </a:r>
          </a:p>
          <a:p>
            <a:pPr>
              <a:defRPr sz="950">
                <a:solidFill>
                  <a:srgbClr val="E0F2FE"/>
                </a:solidFill>
              </a:defRPr>
            </a:pPr>
            <a:r>
              <a:t>MONTHS 9 TO 15</a:t>
            </a:r>
          </a:p>
        </p:txBody>
      </p:sp>
      <p:sp>
        <p:nvSpPr>
          <p:cNvPr id="12" name="Rounded Rectangle 11"/>
          <p:cNvSpPr/>
          <p:nvPr/>
        </p:nvSpPr>
        <p:spPr>
          <a:xfrm>
            <a:off x="731520" y="5532120"/>
            <a:ext cx="10728655" cy="86868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100" b="1">
                <a:solidFill>
                  <a:srgbClr val="0284C7"/>
                </a:solidFill>
              </a:defRPr>
            </a:pPr>
            <a:r>
              <a:t>PROVEN, LOW-RISK DEPLOYMENT METHODOLOGY</a:t>
            </a:r>
          </a:p>
          <a:p>
            <a:pPr>
              <a:defRPr sz="1000">
                <a:solidFill>
                  <a:srgbClr val="FFFFFF"/>
                </a:solidFill>
              </a:defRPr>
            </a:pPr>
            <a:r>
              <a:t>Iterative field calibration ensures zero disruption to ongoing immunization services while building sustainable national capacity.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Financial Sustainability: From Grant to Domestic Financing</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456432"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51560"/>
          <a:lstStyle/>
          <a:p>
            <a:pPr algn="ctr">
              <a:spcBef>
                <a:spcPts val="600"/>
              </a:spcBef>
              <a:defRPr sz="1100">
                <a:solidFill>
                  <a:srgbClr val="1E293B"/>
                </a:solidFill>
              </a:defRPr>
            </a:pPr>
            <a:r>
              <a:t>Initial donor grant (Gavi, BMGF, Global Fund) covering national platform configuration, custom GIS ingestion, DHIS2 integration, and frontline Master Training of Trainers (ToT).</a:t>
            </a:r>
          </a:p>
        </p:txBody>
      </p:sp>
      <p:sp>
        <p:nvSpPr>
          <p:cNvPr id="7" name="Rectangle 6"/>
          <p:cNvSpPr/>
          <p:nvPr/>
        </p:nvSpPr>
        <p:spPr>
          <a:xfrm>
            <a:off x="731520" y="1463040"/>
            <a:ext cx="3456432" cy="91440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Donor Country Launch Package</a:t>
            </a:r>
          </a:p>
          <a:p>
            <a:pPr>
              <a:defRPr sz="1400" b="1">
                <a:solidFill>
                  <a:srgbClr val="FEF08A"/>
                </a:solidFill>
              </a:defRPr>
            </a:pPr>
            <a:r>
              <a:t>$150,000 – $350,000</a:t>
            </a:r>
          </a:p>
        </p:txBody>
      </p:sp>
      <p:sp>
        <p:nvSpPr>
          <p:cNvPr id="8" name="Rounded Rectangle 7"/>
          <p:cNvSpPr/>
          <p:nvPr/>
        </p:nvSpPr>
        <p:spPr>
          <a:xfrm>
            <a:off x="914400" y="4846320"/>
            <a:ext cx="3090672" cy="347472"/>
          </a:xfrm>
          <a:prstGeom prst="roundRect">
            <a:avLst/>
          </a:prstGeom>
          <a:solidFill>
            <a:srgbClr val="F1F5F9"/>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008080"/>
                </a:solidFill>
              </a:defRPr>
            </a:pPr>
            <a:r>
              <a:t>12 Months Inclusive Support</a:t>
            </a:r>
          </a:p>
        </p:txBody>
      </p:sp>
      <p:sp>
        <p:nvSpPr>
          <p:cNvPr id="9" name="Rounded Rectangle 8"/>
          <p:cNvSpPr/>
          <p:nvPr/>
        </p:nvSpPr>
        <p:spPr>
          <a:xfrm>
            <a:off x="4370832" y="1463040"/>
            <a:ext cx="3456432"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51560"/>
          <a:lstStyle/>
          <a:p>
            <a:pPr algn="ctr">
              <a:spcBef>
                <a:spcPts val="600"/>
              </a:spcBef>
              <a:defRPr sz="1100">
                <a:solidFill>
                  <a:srgbClr val="1E293B"/>
                </a:solidFill>
              </a:defRPr>
            </a:pPr>
            <a:r>
              <a:t>Low-cost recurrent licensing scaled to national birth cohort size. Designed to be easily absorbed into annual Ministry of Health recurrent operational budgets.</a:t>
            </a:r>
          </a:p>
        </p:txBody>
      </p:sp>
      <p:sp>
        <p:nvSpPr>
          <p:cNvPr id="10" name="Rectangle 9"/>
          <p:cNvSpPr/>
          <p:nvPr/>
        </p:nvSpPr>
        <p:spPr>
          <a:xfrm>
            <a:off x="4370832" y="1463040"/>
            <a:ext cx="3456432" cy="9144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Annual Sovereign SaaS License</a:t>
            </a:r>
          </a:p>
          <a:p>
            <a:pPr>
              <a:defRPr sz="1400" b="1">
                <a:solidFill>
                  <a:srgbClr val="FEF08A"/>
                </a:solidFill>
              </a:defRPr>
            </a:pPr>
            <a:r>
              <a:t>$0.02 – $0.05 / Target Child / Year</a:t>
            </a:r>
          </a:p>
        </p:txBody>
      </p:sp>
      <p:sp>
        <p:nvSpPr>
          <p:cNvPr id="11" name="Rounded Rectangle 10"/>
          <p:cNvSpPr/>
          <p:nvPr/>
        </p:nvSpPr>
        <p:spPr>
          <a:xfrm>
            <a:off x="4553712" y="4846320"/>
            <a:ext cx="3090672" cy="347472"/>
          </a:xfrm>
          <a:prstGeom prst="roundRect">
            <a:avLst/>
          </a:prstGeom>
          <a:solidFill>
            <a:srgbClr val="F1F5F9"/>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0284C7"/>
                </a:solidFill>
              </a:defRPr>
            </a:pPr>
            <a:r>
              <a:t>Sustainable National Ownership</a:t>
            </a:r>
          </a:p>
        </p:txBody>
      </p:sp>
      <p:sp>
        <p:nvSpPr>
          <p:cNvPr id="12" name="Rounded Rectangle 11"/>
          <p:cNvSpPr/>
          <p:nvPr/>
        </p:nvSpPr>
        <p:spPr>
          <a:xfrm>
            <a:off x="8010144" y="1463040"/>
            <a:ext cx="3456432"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51560"/>
          <a:lstStyle/>
          <a:p>
            <a:pPr algn="ctr">
              <a:spcBef>
                <a:spcPts val="600"/>
              </a:spcBef>
              <a:defRPr sz="1100">
                <a:solidFill>
                  <a:srgbClr val="1E293B"/>
                </a:solidFill>
              </a:defRPr>
            </a:pPr>
            <a:r>
              <a:t>Specialized field packages for GPS catchment ground-truthing, cold chain optimization audits, and national executive leadership data governance workshops.</a:t>
            </a:r>
          </a:p>
        </p:txBody>
      </p:sp>
      <p:sp>
        <p:nvSpPr>
          <p:cNvPr id="13" name="Rectangle 12"/>
          <p:cNvSpPr/>
          <p:nvPr/>
        </p:nvSpPr>
        <p:spPr>
          <a:xfrm>
            <a:off x="8010144" y="1463040"/>
            <a:ext cx="3456432" cy="914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1300" b="1">
                <a:solidFill>
                  <a:srgbClr val="FFFFFF"/>
                </a:solidFill>
              </a:defRPr>
            </a:pPr>
            <a:r>
              <a:t>Technical Assistance &amp; Advisory</a:t>
            </a:r>
          </a:p>
          <a:p>
            <a:pPr>
              <a:defRPr sz="1400" b="1">
                <a:solidFill>
                  <a:srgbClr val="FEF08A"/>
                </a:solidFill>
              </a:defRPr>
            </a:pPr>
            <a:r>
              <a:t>Custom Engagement Bundles</a:t>
            </a:r>
          </a:p>
        </p:txBody>
      </p:sp>
      <p:sp>
        <p:nvSpPr>
          <p:cNvPr id="14" name="Rounded Rectangle 13"/>
          <p:cNvSpPr/>
          <p:nvPr/>
        </p:nvSpPr>
        <p:spPr>
          <a:xfrm>
            <a:off x="8193024" y="4846320"/>
            <a:ext cx="3090672" cy="347472"/>
          </a:xfrm>
          <a:prstGeom prst="roundRect">
            <a:avLst/>
          </a:prstGeom>
          <a:solidFill>
            <a:srgbClr val="F1F5F9"/>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950" b="1">
                <a:solidFill>
                  <a:srgbClr val="D97706"/>
                </a:solidFill>
              </a:defRPr>
            </a:pPr>
            <a:r>
              <a:t>High-Impact Field Enablement</a:t>
            </a:r>
          </a:p>
        </p:txBody>
      </p:sp>
      <p:sp>
        <p:nvSpPr>
          <p:cNvPr id="15" name="Rounded Rectangle 14"/>
          <p:cNvSpPr/>
          <p:nvPr/>
        </p:nvSpPr>
        <p:spPr>
          <a:xfrm>
            <a:off x="731520" y="5532120"/>
            <a:ext cx="10728655" cy="86868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100" b="1">
                <a:solidFill>
                  <a:srgbClr val="0284C7"/>
                </a:solidFill>
              </a:defRPr>
            </a:pPr>
            <a:r>
              <a:t>AVOIDING DIGITAL HEALTH GRAVEYARDS</a:t>
            </a:r>
          </a:p>
          <a:p>
            <a:pPr>
              <a:defRPr sz="1000">
                <a:solidFill>
                  <a:srgbClr val="FFFFFF"/>
                </a:solidFill>
              </a:defRPr>
            </a:pPr>
            <a:r>
              <a:t>At 2 to 5 cents per child per year, national health ministries can easily sustain VaxPlan after initial donor grant funding concludes.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lIns="0" rIns="0" tIns="0" bIns="0">
            <a:spAutoFit/>
          </a:bodyPr>
          <a:lstStyle/>
          <a:p>
            <a:pPr>
              <a:defRPr sz="1000" b="1">
                <a:solidFill>
                  <a:srgbClr val="008080"/>
                </a:solidFill>
              </a:defRPr>
            </a:pPr>
            <a:r>
              <a:t>VAXPLAN GLOBAL INITIATIVE | STRATEGIC STAKEHOLDER BRIEFING</a:t>
            </a:r>
          </a:p>
        </p:txBody>
      </p:sp>
      <p:sp>
        <p:nvSpPr>
          <p:cNvPr id="4" name="TextBox 3"/>
          <p:cNvSpPr txBox="1"/>
          <p:nvPr/>
        </p:nvSpPr>
        <p:spPr>
          <a:xfrm>
            <a:off x="731520" y="658368"/>
            <a:ext cx="10728655" cy="548640"/>
          </a:xfrm>
          <a:prstGeom prst="rect">
            <a:avLst/>
          </a:prstGeom>
          <a:noFill/>
        </p:spPr>
        <p:txBody>
          <a:bodyPr wrap="square" lIns="0" rIns="0" tIns="0" bIns="0">
            <a:spAutoFit/>
          </a:bodyPr>
          <a:lstStyle/>
          <a:p>
            <a:pPr>
              <a:defRPr sz="2200" b="1">
                <a:solidFill>
                  <a:srgbClr val="1B365D"/>
                </a:solidFill>
              </a:defRPr>
            </a:pPr>
            <a:r>
              <a:t>World-Class Leadership &amp; Public Health Governance</a:t>
            </a:r>
          </a:p>
        </p:txBody>
      </p:sp>
      <p:sp>
        <p:nvSpPr>
          <p:cNvPr id="5" name="Rectangle 4"/>
          <p:cNvSpPr/>
          <p:nvPr/>
        </p:nvSpPr>
        <p:spPr>
          <a:xfrm>
            <a:off x="731520" y="1243584"/>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42255"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950" b="1">
                <a:solidFill>
                  <a:srgbClr val="1B365D"/>
                </a:solidFill>
              </a:defRPr>
            </a:pPr>
            <a:r>
              <a:t>FOUNDER &amp; CEO</a:t>
            </a:r>
          </a:p>
          <a:p>
            <a:pPr>
              <a:spcBef>
                <a:spcPts val="200"/>
              </a:spcBef>
              <a:defRPr sz="1400" b="1">
                <a:solidFill>
                  <a:srgbClr val="1B365D"/>
                </a:solidFill>
              </a:defRPr>
            </a:pPr>
            <a:r>
              <a:t>Digital Health Entrepreneur</a:t>
            </a:r>
          </a:p>
          <a:p>
            <a:pPr>
              <a:spcBef>
                <a:spcPts val="600"/>
              </a:spcBef>
              <a:defRPr sz="1000">
                <a:solidFill>
                  <a:srgbClr val="1E293B"/>
                </a:solidFill>
              </a:defRPr>
            </a:pPr>
            <a:r>
              <a:t>Proven track record scaling public-private health technology partnerships, government stakeholder management, and national digital transformations.</a:t>
            </a:r>
          </a:p>
        </p:txBody>
      </p:sp>
      <p:sp>
        <p:nvSpPr>
          <p:cNvPr id="7" name="Rectangle 6"/>
          <p:cNvSpPr/>
          <p:nvPr/>
        </p:nvSpPr>
        <p:spPr>
          <a:xfrm>
            <a:off x="731520" y="1463040"/>
            <a:ext cx="109728" cy="1874519"/>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42255"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950" b="1">
                <a:solidFill>
                  <a:srgbClr val="008080"/>
                </a:solidFill>
              </a:defRPr>
            </a:pPr>
            <a:r>
              <a:t>CO-FOUNDER &amp; CTO</a:t>
            </a:r>
          </a:p>
          <a:p>
            <a:pPr>
              <a:spcBef>
                <a:spcPts val="200"/>
              </a:spcBef>
              <a:defRPr sz="1400" b="1">
                <a:solidFill>
                  <a:srgbClr val="1B365D"/>
                </a:solidFill>
              </a:defRPr>
            </a:pPr>
            <a:r>
              <a:t>Enterprise Systems Architect</a:t>
            </a:r>
          </a:p>
          <a:p>
            <a:pPr>
              <a:spcBef>
                <a:spcPts val="600"/>
              </a:spcBef>
              <a:defRPr sz="1000">
                <a:solidFill>
                  <a:srgbClr val="1E293B"/>
                </a:solidFill>
              </a:defRPr>
            </a:pPr>
            <a:r>
              <a:t>Specialist in offline-first distributed web systems, PostGIS spatial engines, resilient cloud architectures, and OpenHIE interoperability standards.</a:t>
            </a:r>
          </a:p>
        </p:txBody>
      </p:sp>
      <p:sp>
        <p:nvSpPr>
          <p:cNvPr id="9" name="Rectangle 8"/>
          <p:cNvSpPr/>
          <p:nvPr/>
        </p:nvSpPr>
        <p:spPr>
          <a:xfrm>
            <a:off x="6217920" y="1463040"/>
            <a:ext cx="109728" cy="1874519"/>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520440"/>
            <a:ext cx="5242255"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950" b="1">
                <a:solidFill>
                  <a:srgbClr val="0284C7"/>
                </a:solidFill>
              </a:defRPr>
            </a:pPr>
            <a:r>
              <a:t>CO-FOUNDER &amp; HEAD OF PUBLIC HEALTH</a:t>
            </a:r>
          </a:p>
          <a:p>
            <a:pPr>
              <a:spcBef>
                <a:spcPts val="200"/>
              </a:spcBef>
              <a:defRPr sz="1400" b="1">
                <a:solidFill>
                  <a:srgbClr val="1B365D"/>
                </a:solidFill>
              </a:defRPr>
            </a:pPr>
            <a:r>
              <a:t>Senior Immunization Specialist</a:t>
            </a:r>
          </a:p>
          <a:p>
            <a:pPr>
              <a:spcBef>
                <a:spcPts val="600"/>
              </a:spcBef>
              <a:defRPr sz="1000">
                <a:solidFill>
                  <a:srgbClr val="1E293B"/>
                </a:solidFill>
              </a:defRPr>
            </a:pPr>
            <a:r>
              <a:t>Former national EPI technical advisor and global health expert with deep field experience across WHO RED microplanning implementations.</a:t>
            </a:r>
          </a:p>
        </p:txBody>
      </p:sp>
      <p:sp>
        <p:nvSpPr>
          <p:cNvPr id="11" name="Rectangle 10"/>
          <p:cNvSpPr/>
          <p:nvPr/>
        </p:nvSpPr>
        <p:spPr>
          <a:xfrm>
            <a:off x="731520" y="3520440"/>
            <a:ext cx="109728" cy="1874519"/>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3520440"/>
            <a:ext cx="5242255"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950" b="1">
                <a:solidFill>
                  <a:srgbClr val="D97706"/>
                </a:solidFill>
              </a:defRPr>
            </a:pPr>
            <a:r>
              <a:t>CHIEF OPERATING OFFICER (COO)</a:t>
            </a:r>
          </a:p>
          <a:p>
            <a:pPr>
              <a:spcBef>
                <a:spcPts val="200"/>
              </a:spcBef>
              <a:defRPr sz="1400" b="1">
                <a:solidFill>
                  <a:srgbClr val="1B365D"/>
                </a:solidFill>
              </a:defRPr>
            </a:pPr>
            <a:r>
              <a:t>Global Health Operations Lead</a:t>
            </a:r>
          </a:p>
          <a:p>
            <a:pPr>
              <a:spcBef>
                <a:spcPts val="600"/>
              </a:spcBef>
              <a:defRPr sz="1000">
                <a:solidFill>
                  <a:srgbClr val="1E293B"/>
                </a:solidFill>
              </a:defRPr>
            </a:pPr>
            <a:r>
              <a:t>Expert in field logistics, supply chain cold chain audits, healthcare worker training, and large-scale multi-district rollout programs.</a:t>
            </a:r>
          </a:p>
        </p:txBody>
      </p:sp>
      <p:sp>
        <p:nvSpPr>
          <p:cNvPr id="13" name="Rectangle 12"/>
          <p:cNvSpPr/>
          <p:nvPr/>
        </p:nvSpPr>
        <p:spPr>
          <a:xfrm>
            <a:off x="6217920" y="3520440"/>
            <a:ext cx="109728" cy="187451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623560"/>
            <a:ext cx="10728655" cy="777240"/>
          </a:xfrm>
          <a:prstGeom prst="round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050" b="1">
                <a:solidFill>
                  <a:srgbClr val="0284C7"/>
                </a:solidFill>
              </a:defRPr>
            </a:pPr>
            <a:r>
              <a:t>SUPPORTED BY A MULTIDISCIPLINARY TECHNICAL ADVISORY BOARD</a:t>
            </a:r>
          </a:p>
          <a:p>
            <a:pPr>
              <a:defRPr sz="950">
                <a:solidFill>
                  <a:srgbClr val="FFFFFF"/>
                </a:solidFill>
              </a:defRPr>
            </a:pPr>
            <a:r>
              <a:t>Advisors include former WHO EPI Directors, Gavi independent review committee members, and GIS spatial data scientists.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0" y="0"/>
            <a:ext cx="44192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6858000" cy="365760"/>
          </a:xfrm>
          <a:prstGeom prst="rect">
            <a:avLst/>
          </a:prstGeom>
          <a:noFill/>
        </p:spPr>
        <p:txBody>
          <a:bodyPr wrap="none">
            <a:spAutoFit/>
          </a:bodyPr>
          <a:lstStyle/>
          <a:p>
            <a:pPr>
              <a:defRPr sz="1100" b="1">
                <a:solidFill>
                  <a:srgbClr val="0284C7"/>
                </a:solidFill>
              </a:defRPr>
            </a:pPr>
            <a:r>
              <a:t>PARTNERSHIP OPPORTUNITY</a:t>
            </a:r>
          </a:p>
        </p:txBody>
      </p:sp>
      <p:sp>
        <p:nvSpPr>
          <p:cNvPr id="5" name="TextBox 4"/>
          <p:cNvSpPr txBox="1"/>
          <p:nvPr/>
        </p:nvSpPr>
        <p:spPr>
          <a:xfrm>
            <a:off x="731520" y="1097280"/>
            <a:ext cx="6858000" cy="1371600"/>
          </a:xfrm>
          <a:prstGeom prst="rect">
            <a:avLst/>
          </a:prstGeom>
          <a:noFill/>
        </p:spPr>
        <p:txBody>
          <a:bodyPr wrap="square">
            <a:spAutoFit/>
          </a:bodyPr>
          <a:lstStyle/>
          <a:p>
            <a:pPr>
              <a:defRPr sz="3200" b="1">
                <a:solidFill>
                  <a:srgbClr val="FFFFFF"/>
                </a:solidFill>
              </a:defRPr>
            </a:pPr>
            <a:r>
              <a:t>Join Us in Eradicating Zero-Dose Communities</a:t>
            </a:r>
          </a:p>
        </p:txBody>
      </p:sp>
      <p:sp>
        <p:nvSpPr>
          <p:cNvPr id="6" name="Rounded Rectangle 5"/>
          <p:cNvSpPr/>
          <p:nvPr/>
        </p:nvSpPr>
        <p:spPr>
          <a:xfrm>
            <a:off x="731520" y="2651760"/>
            <a:ext cx="6675120" cy="1097280"/>
          </a:xfrm>
          <a:prstGeom prst="roundRect">
            <a:avLst/>
          </a:prstGeom>
          <a:solidFill>
            <a:srgbClr val="172A4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FFFFFF"/>
                </a:solidFill>
              </a:defRPr>
            </a:pPr>
            <a:r>
              <a:t>1. Sponsor a National Pilot ($250K – $500K)</a:t>
            </a:r>
          </a:p>
          <a:p>
            <a:pPr>
              <a:spcBef>
                <a:spcPts val="300"/>
              </a:spcBef>
              <a:defRPr sz="1000">
                <a:solidFill>
                  <a:srgbClr val="CBD5E1"/>
                </a:solidFill>
              </a:defRPr>
            </a:pPr>
            <a:r>
              <a:t>Fund the digital transformation of 15–25 priority districts with large zero-dose populations, proving measurable coverage gains within 6 months.</a:t>
            </a:r>
          </a:p>
        </p:txBody>
      </p:sp>
      <p:sp>
        <p:nvSpPr>
          <p:cNvPr id="7" name="Rounded Rectangle 6"/>
          <p:cNvSpPr/>
          <p:nvPr/>
        </p:nvSpPr>
        <p:spPr>
          <a:xfrm>
            <a:off x="731520" y="3886200"/>
            <a:ext cx="6675120" cy="1097280"/>
          </a:xfrm>
          <a:prstGeom prst="roundRect">
            <a:avLst/>
          </a:prstGeom>
          <a:solidFill>
            <a:srgbClr val="172A4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FFFFFF"/>
                </a:solidFill>
              </a:defRPr>
            </a:pPr>
            <a:r>
              <a:t>2. Global Health Innovation Grant Partnership</a:t>
            </a:r>
          </a:p>
          <a:p>
            <a:pPr>
              <a:spcBef>
                <a:spcPts val="300"/>
              </a:spcBef>
              <a:defRPr sz="1000">
                <a:solidFill>
                  <a:srgbClr val="CBD5E1"/>
                </a:solidFill>
              </a:defRPr>
            </a:pPr>
            <a:r>
              <a:t>Co-apply for Gavi Innovation, BMGF, or USAID DIV grants to integrate predictive AI and climate-resilient cold chain planning.</a:t>
            </a:r>
          </a:p>
        </p:txBody>
      </p:sp>
      <p:sp>
        <p:nvSpPr>
          <p:cNvPr id="8" name="Rounded Rectangle 7"/>
          <p:cNvSpPr/>
          <p:nvPr/>
        </p:nvSpPr>
        <p:spPr>
          <a:xfrm>
            <a:off x="731520" y="5120640"/>
            <a:ext cx="6675120" cy="1097280"/>
          </a:xfrm>
          <a:prstGeom prst="roundRect">
            <a:avLst/>
          </a:prstGeom>
          <a:solidFill>
            <a:srgbClr val="172A4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300" b="1">
                <a:solidFill>
                  <a:srgbClr val="FFFFFF"/>
                </a:solidFill>
              </a:defRPr>
            </a:pPr>
            <a:r>
              <a:t>3. Ministry of Health Demonstration</a:t>
            </a:r>
          </a:p>
          <a:p>
            <a:pPr>
              <a:spcBef>
                <a:spcPts val="300"/>
              </a:spcBef>
              <a:defRPr sz="1000">
                <a:solidFill>
                  <a:srgbClr val="CBD5E1"/>
                </a:solidFill>
              </a:defRPr>
            </a:pPr>
            <a:r>
              <a:t>Schedule a customized country technical demonstration and rapid feasibility assessment for your national EPI technical working group.</a:t>
            </a:r>
          </a:p>
        </p:txBody>
      </p:sp>
      <p:sp>
        <p:nvSpPr>
          <p:cNvPr id="9" name="TextBox 8"/>
          <p:cNvSpPr txBox="1"/>
          <p:nvPr/>
        </p:nvSpPr>
        <p:spPr>
          <a:xfrm>
            <a:off x="8046720" y="1371600"/>
            <a:ext cx="3657600" cy="4572000"/>
          </a:xfrm>
          <a:prstGeom prst="rect">
            <a:avLst/>
          </a:prstGeom>
          <a:noFill/>
        </p:spPr>
        <p:txBody>
          <a:bodyPr wrap="square">
            <a:spAutoFit/>
          </a:bodyPr>
          <a:lstStyle/>
          <a:p>
            <a:pPr>
              <a:defRPr sz="1400" b="1">
                <a:solidFill>
                  <a:srgbClr val="0284C7"/>
                </a:solidFill>
              </a:defRPr>
            </a:pPr>
            <a:r>
              <a:t>ENGAGEMENT PORTAL</a:t>
            </a:r>
          </a:p>
          <a:p>
            <a:pPr>
              <a:spcBef>
                <a:spcPts val="1400"/>
              </a:spcBef>
              <a:defRPr sz="950" b="1">
                <a:solidFill>
                  <a:srgbClr val="64748B"/>
                </a:solidFill>
              </a:defRPr>
            </a:pPr>
            <a:r>
              <a:t>OFFICIAL PORTAL</a:t>
            </a:r>
          </a:p>
          <a:p>
            <a:pPr>
              <a:spcBef>
                <a:spcPts val="200"/>
              </a:spcBef>
              <a:defRPr sz="1200" b="1">
                <a:solidFill>
                  <a:srgbClr val="FFFFFF"/>
                </a:solidFill>
              </a:defRPr>
            </a:pPr>
            <a:r>
              <a:t>https://vaxplan.org</a:t>
            </a:r>
          </a:p>
          <a:p>
            <a:pPr>
              <a:spcBef>
                <a:spcPts val="1400"/>
              </a:spcBef>
              <a:defRPr sz="950" b="1">
                <a:solidFill>
                  <a:srgbClr val="64748B"/>
                </a:solidFill>
              </a:defRPr>
            </a:pPr>
            <a:r>
              <a:t>STRATEGIC INQUIRIES</a:t>
            </a:r>
          </a:p>
          <a:p>
            <a:pPr>
              <a:spcBef>
                <a:spcPts val="200"/>
              </a:spcBef>
              <a:defRPr sz="1200" b="1">
                <a:solidFill>
                  <a:srgbClr val="FFFFFF"/>
                </a:solidFill>
              </a:defRPr>
            </a:pPr>
            <a:r>
              <a:t>partnerships@vaxplan.org</a:t>
            </a:r>
          </a:p>
          <a:p>
            <a:pPr>
              <a:spcBef>
                <a:spcPts val="1400"/>
              </a:spcBef>
              <a:defRPr sz="950" b="1">
                <a:solidFill>
                  <a:srgbClr val="64748B"/>
                </a:solidFill>
              </a:defRPr>
            </a:pPr>
            <a:r>
              <a:t>TECHNICAL EVALUATION</a:t>
            </a:r>
          </a:p>
          <a:p>
            <a:pPr>
              <a:spcBef>
                <a:spcPts val="200"/>
              </a:spcBef>
              <a:defRPr sz="1200" b="1">
                <a:solidFill>
                  <a:srgbClr val="FFFFFF"/>
                </a:solidFill>
              </a:defRPr>
            </a:pPr>
            <a:r>
              <a:t>tech@vaxplan.org</a:t>
            </a:r>
          </a:p>
          <a:p>
            <a:pPr>
              <a:spcBef>
                <a:spcPts val="1400"/>
              </a:spcBef>
              <a:defRPr sz="950" b="1">
                <a:solidFill>
                  <a:srgbClr val="64748B"/>
                </a:solidFill>
              </a:defRPr>
            </a:pPr>
            <a:r>
              <a:t>HEADQUARTERS</a:t>
            </a:r>
          </a:p>
          <a:p>
            <a:pPr>
              <a:spcBef>
                <a:spcPts val="200"/>
              </a:spcBef>
              <a:defRPr sz="1200" b="1">
                <a:solidFill>
                  <a:srgbClr val="FFFFFF"/>
                </a:solidFill>
              </a:defRPr>
            </a:pPr>
            <a:r>
              <a:t>VaxPlan Global Initiative</a:t>
            </a:r>
            <a:br/>
            <a:r>
              <a:t>Geneva • Nairobi • Washington, D.C.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