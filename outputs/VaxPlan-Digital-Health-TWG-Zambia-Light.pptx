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75abb536e64142" /><Relationship Type="http://schemas.openxmlformats.org/officeDocument/2006/relationships/extended-properties" Target="/docProps/app.xml" Id="Ra3b55543d2084d1a" /><Relationship Type="http://schemas.openxmlformats.org/officeDocument/2006/relationships/officeDocument" Target="/ppt/presentation.xml" Id="Rceeb242ce55048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2015cb2c6a4d43"/>
  </p:sldMasterIdLst>
  <p:notesMasterIdLst>
    <p:notesMasterId xmlns:r="http://schemas.openxmlformats.org/officeDocument/2006/relationships" r:id="Rf25a0a35b5a44fcf"/>
  </p:notesMasterIdLst>
  <p:sldIdLst>
    <p:sldId xmlns:r="http://schemas.openxmlformats.org/officeDocument/2006/relationships" id="256" r:id="R4759571405cb49ba"/>
    <p:sldId xmlns:r="http://schemas.openxmlformats.org/officeDocument/2006/relationships" id="257" r:id="R2b7bb66a2f344226"/>
    <p:sldId xmlns:r="http://schemas.openxmlformats.org/officeDocument/2006/relationships" id="258" r:id="Rb3d8da36578d47f9"/>
    <p:sldId xmlns:r="http://schemas.openxmlformats.org/officeDocument/2006/relationships" id="259" r:id="Rff2ae0a83699426d"/>
    <p:sldId xmlns:r="http://schemas.openxmlformats.org/officeDocument/2006/relationships" id="260" r:id="Rabef090fb0c04bb3"/>
    <p:sldId xmlns:r="http://schemas.openxmlformats.org/officeDocument/2006/relationships" id="261" r:id="Ra956736791104531"/>
    <p:sldId xmlns:r="http://schemas.openxmlformats.org/officeDocument/2006/relationships" id="262" r:id="R5fe63ee803fe4de4"/>
    <p:sldId xmlns:r="http://schemas.openxmlformats.org/officeDocument/2006/relationships" id="263" r:id="Rc1183cc330e24e75"/>
    <p:sldId xmlns:r="http://schemas.openxmlformats.org/officeDocument/2006/relationships" id="264" r:id="Red0b0cc974c541b3"/>
    <p:sldId xmlns:r="http://schemas.openxmlformats.org/officeDocument/2006/relationships" id="265" r:id="R0e7220e7b15441a6"/>
    <p:sldId xmlns:r="http://schemas.openxmlformats.org/officeDocument/2006/relationships" id="266" r:id="R781ee232a52b4a91"/>
    <p:sldId xmlns:r="http://schemas.openxmlformats.org/officeDocument/2006/relationships" id="267" r:id="R8e2752f3ec0b48c7"/>
    <p:sldId xmlns:r="http://schemas.openxmlformats.org/officeDocument/2006/relationships" id="268" r:id="Radd6af18e4b44fac"/>
    <p:sldId xmlns:r="http://schemas.openxmlformats.org/officeDocument/2006/relationships" id="269" r:id="Rcc07662598834500"/>
    <p:sldId xmlns:r="http://schemas.openxmlformats.org/officeDocument/2006/relationships" id="270" r:id="R8475d73861e846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ac8972fdcc4c0d" /><Relationship Type="http://schemas.openxmlformats.org/officeDocument/2006/relationships/slideMaster" Target="/ppt/slideMasters/slideMaster1.xml" Id="Rd22015cb2c6a4d43" /><Relationship Type="http://schemas.openxmlformats.org/officeDocument/2006/relationships/notesMaster" Target="/ppt/notesMasters/notesMaster1.xml" Id="Rf25a0a35b5a44fcf" /><Relationship Type="http://schemas.openxmlformats.org/officeDocument/2006/relationships/presProps" Target="/ppt/presProps.xml" Id="R8328b5b27bc9477d" /><Relationship Type="http://schemas.openxmlformats.org/officeDocument/2006/relationships/tableStyles" Target="/ppt/tableStyles.xml" Id="R15ab0e412d314ab1" /><Relationship Type="http://schemas.openxmlformats.org/officeDocument/2006/relationships/slide" Target="/ppt/slides/slide1.xml" Id="R4759571405cb49ba" /><Relationship Type="http://schemas.openxmlformats.org/officeDocument/2006/relationships/slide" Target="/ppt/slides/slide2.xml" Id="R2b7bb66a2f344226" /><Relationship Type="http://schemas.openxmlformats.org/officeDocument/2006/relationships/slide" Target="/ppt/slides/slide3.xml" Id="Rb3d8da36578d47f9" /><Relationship Type="http://schemas.openxmlformats.org/officeDocument/2006/relationships/slide" Target="/ppt/slides/slide4.xml" Id="Rff2ae0a83699426d" /><Relationship Type="http://schemas.openxmlformats.org/officeDocument/2006/relationships/slide" Target="/ppt/slides/slide5.xml" Id="Rabef090fb0c04bb3" /><Relationship Type="http://schemas.openxmlformats.org/officeDocument/2006/relationships/slide" Target="/ppt/slides/slide6.xml" Id="Ra956736791104531" /><Relationship Type="http://schemas.openxmlformats.org/officeDocument/2006/relationships/slide" Target="/ppt/slides/slide7.xml" Id="R5fe63ee803fe4de4" /><Relationship Type="http://schemas.openxmlformats.org/officeDocument/2006/relationships/slide" Target="/ppt/slides/slide8.xml" Id="Rc1183cc330e24e75" /><Relationship Type="http://schemas.openxmlformats.org/officeDocument/2006/relationships/slide" Target="/ppt/slides/slide9.xml" Id="Red0b0cc974c541b3" /><Relationship Type="http://schemas.openxmlformats.org/officeDocument/2006/relationships/slide" Target="/ppt/slides/slide10.xml" Id="R0e7220e7b15441a6" /><Relationship Type="http://schemas.openxmlformats.org/officeDocument/2006/relationships/slide" Target="/ppt/slides/slide11.xml" Id="R781ee232a52b4a91" /><Relationship Type="http://schemas.openxmlformats.org/officeDocument/2006/relationships/slide" Target="/ppt/slides/slide12.xml" Id="R8e2752f3ec0b48c7" /><Relationship Type="http://schemas.openxmlformats.org/officeDocument/2006/relationships/slide" Target="/ppt/slides/slide13.xml" Id="Radd6af18e4b44fac" /><Relationship Type="http://schemas.openxmlformats.org/officeDocument/2006/relationships/slide" Target="/ppt/slides/slide14.xml" Id="Rcc07662598834500" /><Relationship Type="http://schemas.openxmlformats.org/officeDocument/2006/relationships/slide" Target="/ppt/slides/slide15.xml" Id="R8475d73861e846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c5687923614f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33040cf8754bb3" /><Relationship Type="http://schemas.openxmlformats.org/officeDocument/2006/relationships/notesMaster" Target="/ppt/notesMasters/notesMaster1.xml" Id="R31135f171f514a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fa087d750e44d0" /><Relationship Type="http://schemas.openxmlformats.org/officeDocument/2006/relationships/notesMaster" Target="/ppt/notesMasters/notesMaster1.xml" Id="R3574c41e1a6142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849445e3c74e0d" /><Relationship Type="http://schemas.openxmlformats.org/officeDocument/2006/relationships/notesMaster" Target="/ppt/notesMasters/notesMaster1.xml" Id="Rf8af10d777e947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f3beae91064385" /><Relationship Type="http://schemas.openxmlformats.org/officeDocument/2006/relationships/notesMaster" Target="/ppt/notesMasters/notesMaster1.xml" Id="R95f208e7720c45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1730b6c7ab49a9" /><Relationship Type="http://schemas.openxmlformats.org/officeDocument/2006/relationships/notesMaster" Target="/ppt/notesMasters/notesMaster1.xml" Id="R8b270199560f4a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c1dbead6dc4144" /><Relationship Type="http://schemas.openxmlformats.org/officeDocument/2006/relationships/notesMaster" Target="/ppt/notesMasters/notesMaster1.xml" Id="R5b032024f34a46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385d5a1ea14298" /><Relationship Type="http://schemas.openxmlformats.org/officeDocument/2006/relationships/notesMaster" Target="/ppt/notesMasters/notesMaster1.xml" Id="R13f6ba3738ee46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5e269aa8c14aec" /><Relationship Type="http://schemas.openxmlformats.org/officeDocument/2006/relationships/notesMaster" Target="/ppt/notesMasters/notesMaster1.xml" Id="Re3a2b0358e4142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e71171919f4bfb" /><Relationship Type="http://schemas.openxmlformats.org/officeDocument/2006/relationships/notesMaster" Target="/ppt/notesMasters/notesMaster1.xml" Id="R89e8305fbf8d43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1acc6c3aa6408e" /><Relationship Type="http://schemas.openxmlformats.org/officeDocument/2006/relationships/notesMaster" Target="/ppt/notesMasters/notesMaster1.xml" Id="R6610c8dab5874a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cba28dd2b740f6" /><Relationship Type="http://schemas.openxmlformats.org/officeDocument/2006/relationships/notesMaster" Target="/ppt/notesMasters/notesMaster1.xml" Id="R602f3746d52245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e2806ce95d4b90" /><Relationship Type="http://schemas.openxmlformats.org/officeDocument/2006/relationships/notesMaster" Target="/ppt/notesMasters/notesMaster1.xml" Id="R20802dd492b042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1989388a634a6e" /><Relationship Type="http://schemas.openxmlformats.org/officeDocument/2006/relationships/notesMaster" Target="/ppt/notesMasters/notesMaster1.xml" Id="R80e50ff9239843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86172cdd224059" /><Relationship Type="http://schemas.openxmlformats.org/officeDocument/2006/relationships/notesMaster" Target="/ppt/notesMasters/notesMaster1.xml" Id="R2864034bdaac45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4e3ff4bec84b3c" /><Relationship Type="http://schemas.openxmlformats.org/officeDocument/2006/relationships/notesMaster" Target="/ppt/notesMasters/notesMaster1.xml" Id="R78ff2c5ca39744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VaxPlan as a planning and accountability platform, not simply a mapping tool.</a:t>
            </a:r>
          </a:p>
          <a:p xmlns:a="http://schemas.openxmlformats.org/drawingml/2006/main">
            <a:r>
              <a:t>The screenshot is intentionally shown on the title slide to signal that the briefing is grounded in working software and uses Zambia as the example country.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sets expectations: the TWG is being asked to review the platform as part of the digital health ecosystem.</a:t>
            </a:r>
          </a:p>
          <a:p xmlns:a="http://schemas.openxmlformats.org/drawingml/2006/main">
            <a:r>
              <a:t>Emphasize plain language: VaxPlan connects planning data, GIS evidence and workflow follow-up.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microplanning as an operational planning process rather than a document.</a:t>
            </a:r>
          </a:p>
          <a:p xmlns:a="http://schemas.openxmlformats.org/drawingml/2006/main">
            <a:r>
              <a:t>For non-public-health technical officers, compare it to converting a national strategy into a facility-level workplan with geospatial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global guidance without using technical jargon.</a:t>
            </a:r>
          </a:p>
          <a:p xmlns:a="http://schemas.openxmlformats.org/drawingml/2006/main">
            <a:r>
              <a:t>Make clear that VaxPlan digitizes these steps; it does not replace policy or national standards.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in operational terms: a plan that cannot be seen, updated or verified becomes weak quickly.</a:t>
            </a:r>
          </a:p>
          <a:p xmlns:a="http://schemas.openxmlformats.org/drawingml/2006/main">
            <a:r>
              <a:t>Use this slide to connect public-health and ICT audiences around a shared systems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digital microplanning is about decision support, not technology for its own sake.</a:t>
            </a:r>
          </a:p>
          <a:p xmlns:a="http://schemas.openxmlformats.org/drawingml/2006/main">
            <a:r>
              <a:t>Point to the dashboard as evidence that VaxPlan creates a shared operational picture.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clearly that VaxPlan serves multiple roles, not only GIS officers.</a:t>
            </a:r>
          </a:p>
          <a:p xmlns:a="http://schemas.openxmlformats.org/drawingml/2006/main">
            <a:r>
              <a:t>For ICT officers, highlight user roles, integrations and deployment; for programme teams, highlight planning and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bridge from problem to product.</a:t>
            </a:r>
          </a:p>
          <a:p xmlns:a="http://schemas.openxmlformats.org/drawingml/2006/main">
            <a:r>
              <a:t>Describe the shift as a controlled workflow: data enters once and is reused for maps, sessions, logistics and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feature catalogue. Keep the narration concise and connect each feature to a planning problem.</a:t>
            </a:r>
          </a:p>
          <a:p xmlns:a="http://schemas.openxmlformats.org/drawingml/2006/main">
            <a:r>
              <a:t>Mention that the platform links these features into one workflow rather than treating them as separate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screenshots as proof points, not decoration.</a:t>
            </a:r>
          </a:p>
          <a:p xmlns:a="http://schemas.openxmlformats.org/drawingml/2006/main">
            <a:r>
              <a:t>Call out that each screenshot demonstrates a different operational function: GIS, intelligence, microplanning, sessions, logistics and role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alignment means VaxPlan supports recommended planning practices; it does not claim endorsement by WHO, UNICEF or Gavi.</a:t>
            </a:r>
          </a:p>
          <a:p xmlns:a="http://schemas.openxmlformats.org/drawingml/2006/main">
            <a:r>
              <a:t>Use simple terms: VaxPlan helps teams find the missed, plan the service, track the work and review the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 to value by audience: MoH leadership gets visibility, districts get planning tools, partners get evidence, ICT gets governance controls.</a:t>
            </a:r>
          </a:p>
          <a:p xmlns:a="http://schemas.openxmlformats.org/drawingml/2006/main">
            <a:r>
              <a:t>Emphasize that value comes from integrated workflow, not from map display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 a controlled pilot rather than an immediate full national deployment.</a:t>
            </a:r>
          </a:p>
          <a:p xmlns:a="http://schemas.openxmlformats.org/drawingml/2006/main">
            <a:r>
              <a:t>The pilot should test governance, data readiness, user training, reporting and technical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main narrative by making the TWG ask explicit.</a:t>
            </a:r>
          </a:p>
          <a:p xmlns:a="http://schemas.openxmlformats.org/drawingml/2006/main">
            <a:r>
              <a:t>The key decisions are governance, pilot scope, focal persons, success indicators and next workshop timing.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acknowledge the sources used for the briefing.</a:t>
            </a:r>
          </a:p>
          <a:p xmlns:a="http://schemas.openxmlformats.org/drawingml/2006/main">
            <a:r>
              <a:t>Clarify that screenshots are from the local VaxPlan working instance and global guidance references are used to frame alignment.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8ec55601248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da9af0032642a5" /><Relationship Type="http://schemas.openxmlformats.org/officeDocument/2006/relationships/slideLayout" Target="/ppt/slideLayouts/slideLayout1.xml" Id="Rcccf4d4e813043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cf4d4e813043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a271683634b4d" /><Relationship Type="http://schemas.openxmlformats.org/officeDocument/2006/relationships/image" Target="/ppt/media/image.jpeg" Id="Rcee3f0023b494899" /><Relationship Type="http://schemas.openxmlformats.org/officeDocument/2006/relationships/image" Target="/ppt/media/image2.jpeg" Id="R78280f6ede7a4899" /><Relationship Type="http://schemas.openxmlformats.org/officeDocument/2006/relationships/image" Target="/ppt/media/image.png" Id="Rbf8bdb3fc88c4ff4" /><Relationship Type="http://schemas.openxmlformats.org/officeDocument/2006/relationships/notesSlide" Target="/ppt/notesSlides/notesSlide1.xml" Id="Re0f0fa1a77bd48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ea429fc3b4436" /><Relationship Type="http://schemas.openxmlformats.org/officeDocument/2006/relationships/notesSlide" Target="/ppt/notesSlides/notesSlide2.xml" Id="R52b1a231894041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cbe4f797f4bce" /><Relationship Type="http://schemas.openxmlformats.org/officeDocument/2006/relationships/notesSlide" Target="/ppt/notesSlides/notesSlide3.xml" Id="Rc9491b525afa4f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cdf036f6b4748" /><Relationship Type="http://schemas.openxmlformats.org/officeDocument/2006/relationships/notesSlide" Target="/ppt/notesSlides/notesSlide4.xml" Id="Re135137f29eb4d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708e666d14caa" /><Relationship Type="http://schemas.openxmlformats.org/officeDocument/2006/relationships/notesSlide" Target="/ppt/notesSlides/notesSlide5.xml" Id="R2cd02b24e0ce40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30aada9f94cd2" /><Relationship Type="http://schemas.openxmlformats.org/officeDocument/2006/relationships/image" Target="/ppt/media/image2.png" Id="Rdb2c2d60183c444a" /><Relationship Type="http://schemas.openxmlformats.org/officeDocument/2006/relationships/notesSlide" Target="/ppt/notesSlides/notesSlide6.xml" Id="R871d90fa604e48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3b157b0e649b3" /><Relationship Type="http://schemas.openxmlformats.org/officeDocument/2006/relationships/notesSlide" Target="/ppt/notesSlides/notesSlide7.xml" Id="R08956eaac2a54d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719ded5984e72" /><Relationship Type="http://schemas.openxmlformats.org/officeDocument/2006/relationships/notesSlide" Target="/ppt/notesSlides/notesSlide8.xml" Id="R5072638326f94f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b30f9321146c4" /><Relationship Type="http://schemas.openxmlformats.org/officeDocument/2006/relationships/notesSlide" Target="/ppt/notesSlides/notesSlide9.xml" Id="R92a03a3331e346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d69c672f84654" /><Relationship Type="http://schemas.openxmlformats.org/officeDocument/2006/relationships/image" Target="/ppt/media/image3.png" Id="Rb1c4e34dbe964469" /><Relationship Type="http://schemas.openxmlformats.org/officeDocument/2006/relationships/image" Target="/ppt/media/image4.png" Id="R370a293e56c84e22" /><Relationship Type="http://schemas.openxmlformats.org/officeDocument/2006/relationships/image" Target="/ppt/media/image5.png" Id="R59091649cfff4c05" /><Relationship Type="http://schemas.openxmlformats.org/officeDocument/2006/relationships/image" Target="/ppt/media/image6.png" Id="R94eb9cf9ad7b48b7" /><Relationship Type="http://schemas.openxmlformats.org/officeDocument/2006/relationships/image" Target="/ppt/media/image7.png" Id="R9160ceb5f6fd4563" /><Relationship Type="http://schemas.openxmlformats.org/officeDocument/2006/relationships/image" Target="/ppt/media/image8.png" Id="R04d73ed0826d43e6" /><Relationship Type="http://schemas.openxmlformats.org/officeDocument/2006/relationships/notesSlide" Target="/ppt/notesSlides/notesSlide10.xml" Id="R797ef084ad1542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12c8eb31545ec" /><Relationship Type="http://schemas.openxmlformats.org/officeDocument/2006/relationships/notesSlide" Target="/ppt/notesSlides/notesSlide11.xml" Id="Rccc01b8b1a854d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c212974d7441d" /><Relationship Type="http://schemas.openxmlformats.org/officeDocument/2006/relationships/image" Target="/ppt/media/image9.png" Id="Rc37399398cf44235" /><Relationship Type="http://schemas.openxmlformats.org/officeDocument/2006/relationships/notesSlide" Target="/ppt/notesSlides/notesSlide12.xml" Id="Ra51ad7dada2c40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fb9cf4f7346fa" /><Relationship Type="http://schemas.openxmlformats.org/officeDocument/2006/relationships/notesSlide" Target="/ppt/notesSlides/notesSlide13.xml" Id="R007f01ab427b43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d871dd18b4c62" /><Relationship Type="http://schemas.openxmlformats.org/officeDocument/2006/relationships/notesSlide" Target="/ppt/notesSlides/notesSlide14.xml" Id="Rbd6592038dc847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f74602a3a46f7" /><Relationship Type="http://schemas.openxmlformats.org/officeDocument/2006/relationships/notesSlide" Target="/ppt/notesSlides/notesSlide15.xml" Id="R74d9d357b4b34a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3f0023b49489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2EC7E-FAD3-407F-8FD9-01BC64F0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80f6ede7a4899"/>
          <a:stretch xmlns:a="http://schemas.openxmlformats.org/drawingml/2006/main"/>
        </p:blipFill>
        <p:spPr>
          <a:xfrm xmlns:a="http://schemas.openxmlformats.org/drawingml/2006/main">
            <a:off x="1485900" y="51435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09A1B-26BB-4F36-8EF4-3A01F915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90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GIS-enabled Immunization Microplanning and Planning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8A345-FC8E-4EA0-9B14-5BAFAEBF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DF7"/>
                </a:solidFill>
              </a:defRPr>
            </a:pPr>
            <a:r>
              <a:rPr sz="1650" b="0">
                <a:solidFill>
                  <a:srgbClr val="D9EDF7"/>
                </a:solidFill>
              </a:rPr>
              <a:t>Digital Health Technical Working Group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FFE9B-30B5-4E9B-AB35-04FF0ECF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E8FF"/>
                </a:solidFill>
              </a:defRPr>
            </a:pPr>
            <a:r>
              <a:rPr sz="1275" b="0">
                <a:solidFill>
                  <a:srgbClr val="9DE8FF"/>
                </a:solidFill>
              </a:rPr>
              <a:t>Zambia example screenshots | Republic of Zambia Ministry of Health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bdb3fc88c4ff4"/>
          <a:srcRect xmlns:a="http://schemas.openxmlformats.org/drawingml/2006/main" l="5747" t="0" r="57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200150"/>
            <a:ext cx="42862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F3F37-F100-443F-9B09-58AB602D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4286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C8E4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64CF8-6B34-46D4-AAD9-49C76A0D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91000"/>
            <a:ext cx="405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A5E9"/>
                </a:solidFill>
              </a:defRPr>
            </a:pPr>
            <a:r>
              <a:rPr sz="975" b="1">
                <a:solidFill>
                  <a:srgbClr val="0EA5E9"/>
                </a:solidFill>
              </a:rPr>
              <a:t>Live app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5E37A-2681-4D38-9532-5864C567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8150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Light-theme screenshot from the working VaxPlan Zambia planning context.</a:t>
            </a:r>
          </a:p>
        </p:txBody>
      </p:sp>
    </p:spTree>
    <p:extLst>
      <p:ext uri="{BB962C8B-B14F-4D97-AF65-F5344CB8AC3E}">
        <p14:creationId xmlns:p14="http://schemas.microsoft.com/office/powerpoint/2010/main" val="706912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E43E65-0338-40EA-B322-69A9A479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Why This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FC27B-F32E-4469-AF2C-40C6EBED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E1528-FB75-4905-B34B-6C70F16D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50EBE-50C8-4FE5-977F-3565C9C9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B5DD3-0532-4DE1-963B-12B5AF11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3DC5F-0F1E-40E7-8658-AB294135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A5E9"/>
                </a:solidFill>
              </a:defRPr>
            </a:pPr>
            <a:r>
              <a:rPr sz="1800" b="1">
                <a:solidFill>
                  <a:srgbClr val="0EA5E9"/>
                </a:solidFill>
              </a:rPr>
              <a:t>Purpose for the Digital Health TWG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7D8D8-5615-4B5B-ADCE-73240031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4FA2F-23EC-420B-BB37-BC83F2E8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601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Explain VaxPlan in clear, non-specialist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57773-FD72-4A43-9D9D-8524F183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5566C-F1F5-40E0-96BC-17899625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601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Show how digital microplanning can improve visibility, coordination and follow-up.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09150-5CA8-46D9-8F29-A437981C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8DB2F-9DAB-4846-BF5A-7DCC5E6B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601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Confirm alignment with WHO, UNICEF and Gavi immunization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A15F4-9695-439D-97A3-69B64191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92498-A369-479A-8E26-6D266FE2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601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Identify decisions needed for pilot readiness and governance.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B80C9-038A-42FC-BC60-7B76AD7E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47195-77B3-4EED-A471-8285D8EE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B8C8"/>
                </a:solidFill>
              </a:defRPr>
            </a:pPr>
            <a:r>
              <a:rPr sz="2250" b="1">
                <a:solidFill>
                  <a:srgbClr val="14B8C8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7755F-CCD3-4E1B-9164-8D83AEDB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93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Shared national planning workspace for teams and partners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47D6B-7359-4F23-95FC-4A99EAD3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81DB2-B73A-4DC9-93DC-D60103C2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337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A5E9"/>
                </a:solidFill>
              </a:defRPr>
            </a:pPr>
            <a:r>
              <a:rPr sz="2250" b="1">
                <a:solidFill>
                  <a:srgbClr val="0EA5E9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5BF02-132F-46A0-893E-041D2761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Linked views: map, workflow, reporting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1A657-5AAB-442A-A8B5-D91556E3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BFD122-3992-4D9C-B606-A19F4C52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481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</a:defRPr>
            </a:pPr>
            <a:r>
              <a:rPr sz="2250" b="1">
                <a:solidFill>
                  <a:srgbClr val="F59E0B"/>
                </a:solidFill>
              </a:rPr>
              <a:t>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96EB9-54DC-47E0-B965-F85B9B36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482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Slides for TWG review and decision</a:t>
            </a:r>
          </a:p>
        </p:txBody>
      </p:sp>
    </p:spTree>
    <p:extLst>
      <p:ext uri="{BB962C8B-B14F-4D97-AF65-F5344CB8AC3E}">
        <p14:creationId xmlns:p14="http://schemas.microsoft.com/office/powerpoint/2010/main" val="10361288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DA039-B7DF-4737-8196-59EE41F5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What Is Immunization Microplanning?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86990-C73D-4EA6-B054-050C15F7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WHO, 2015; WHO and UNICEF, 2017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EC2D7-C103-43A9-A6D8-88BB25FB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619E6-1836-4573-A892-305DEC29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35D26-0864-4D04-B23E-7A312D79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5A844-B64C-4E27-A0CF-5544F9D8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426"/>
                </a:solidFill>
              </a:defRPr>
            </a:pPr>
            <a:r>
              <a:rPr sz="1800" b="1">
                <a:solidFill>
                  <a:srgbClr val="071426"/>
                </a:solidFill>
              </a:rPr>
              <a:t>A bottom-up planning process that starts from the health-facility catchment area.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798AC-6F17-4052-96B9-17C9F3D9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2CBA1-705C-4FFC-81FC-E8B5D5B2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9D76C-8786-4DAF-AE12-A3491B4F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Identify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6C0E5-E5FA-4E3F-AD7E-C17AE486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152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Which communities, settlements and population groups must be reached.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89944-E4DC-4DFB-A1A1-B72AB69A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0250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797DF-2C15-42E3-8041-82E379CF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02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84F6D-AD6D-4273-9770-BD58FDA2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446ED-BDE7-4280-94EE-E65506AE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52700"/>
            <a:ext cx="2152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Where sessions happen, who is responsible, what resources are needed, and when teams go.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E1362-1C3B-4A79-A645-5DD72DA4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C7004-1BBB-4686-90AC-11227A5B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B13F2-97AE-458E-865C-A2A08ED5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Monitor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114790-CBB1-4702-9C6B-EF75C545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2152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Whether sessions happened, drop-outs reduced, and missed communities were followed up.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6C8E8-8E87-48D5-99E6-9E058258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2381250" cy="24003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B7DC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3FFC1-8962-4375-BAA5-576CFA3B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52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Plain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139E8-BA22-46CF-86CC-D8744DEE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52700"/>
            <a:ext cx="1924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Microplanning turns a national immunization goal into practical local tasks: villages to visit, staff to assign, vaccines to carry, sessions to run and gaps to close.</a:t>
            </a:r>
          </a:p>
        </p:txBody>
      </p:sp>
    </p:spTree>
    <p:extLst>
      <p:ext uri="{BB962C8B-B14F-4D97-AF65-F5344CB8AC3E}">
        <p14:creationId xmlns:p14="http://schemas.microsoft.com/office/powerpoint/2010/main" val="89206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58E359-243F-4CA9-89DA-D7F802F7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Global Guidance: What Good Microplans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50AB3-4444-4A99-AFD7-EAC452BD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WHO and UNICEF, 2017; UNICEF, 2023; Gavi, 2024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5C7FE-DB63-43BB-AEBD-0D23CB88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154AB-A169-41AF-8645-4E2CA240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9DCEC-14E0-48A1-BD11-64241632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93DC5-FE5B-46AE-9511-24D4222D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4953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569EC-0430-4ED6-8E55-EDE9D7C0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E219E-C8FC-4388-99D2-A90BAD18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WHO RED approach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4561F-E54C-4FA8-B673-B7E47D82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Use district and facility microplans to improve access, reduce drop-outs, supervise regularly and monitor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8DC43-A6FF-4805-AC2B-3F261608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38250"/>
            <a:ext cx="4953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FD9A4-5F2B-425A-AEB8-D12FEE01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382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1E699-BF15-4531-812F-14397692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097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UNICEF guidance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3A7F3-B8A3-4D17-B1A6-16E52A5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Use local data to identify unreached and zero-dose children, map settlements and plan service delivery.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956F7-DD61-429F-9C26-F4E4C4D9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953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C3E48-2230-44A4-A68A-975E246B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97922-05CC-4D5F-90C6-9FF62BAF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Gavi priorities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B7015-7AA3-4826-A2D2-4A60CFA8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Focus resources on equity, zero-dose communities, resilient systems and measurable implementation results.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886BF-34B4-4CCA-85FA-7B155608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4953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45FF7-3CC3-47D5-8A0C-2188AC00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D4642-3FA7-46C2-BFDE-582FEE7E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Digital health implication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5E0E3-7ACB-4007-9744-3FCA0896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Microplans should be visible, reviewable, reusable and linked to routine reporting and logistics.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CDE5B-A3DB-43E6-A000-DA4AF246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426"/>
                </a:solidFill>
              </a:defRPr>
            </a:pPr>
            <a:r>
              <a:rPr sz="1575" b="1">
                <a:solidFill>
                  <a:srgbClr val="071426"/>
                </a:solidFill>
              </a:rPr>
              <a:t>Core message: guidance asks programmes to identify who is missed, plan how to reach them, monitor delivery and act on gaps.</a:t>
            </a:r>
          </a:p>
        </p:txBody>
      </p:sp>
    </p:spTree>
    <p:extLst>
      <p:ext uri="{BB962C8B-B14F-4D97-AF65-F5344CB8AC3E}">
        <p14:creationId xmlns:p14="http://schemas.microsoft.com/office/powerpoint/2010/main" val="10928232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FEBB6F-2998-4679-8366-56D0FBA9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The Current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CD6BA-5827-48FE-A009-308448F8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WHO and UNICEF, 2017; 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02D36-A21B-472E-9DCE-54EDB97F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F1863-3168-40DC-A3F2-7A2AA9A0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B77FE-C781-4394-8AB3-66436D97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A5159-E533-4603-9969-A581849E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4EE11-0099-41AA-A729-34620F27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CB966-4849-4B10-9B10-D8562821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Paper-based plans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83754-4F65-4476-83DB-7E3A9A4D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Hard to update, aggregate or audit.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7A17B-70FA-44E7-B709-88417B1D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27635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7A76A-F2A6-41DB-B6C8-6AFA096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2763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60720-484E-43D1-B7B9-017B681E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478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Weak catchment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0AD74-F4EB-42C5-A8DB-A2E4ACFD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28800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Teams may not see settlements outside routine routes.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0E5DE-B70D-4F55-8616-7A6AD51C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7635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CE8D6-3CC6-427F-98D0-71A81681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763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07D29-B892-4C9D-B44C-C6A3281B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478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Stock and logistics 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C5DEE-F63E-4EF2-8E87-DEF39BF2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Session plans can be disconnected from vaccine and cold-chain readiness.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DA691-42BE-44D9-8D99-975A863A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3C145-AAA7-4E6C-A32A-0799EE90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689F7-8A75-4100-9600-DDE45DA5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Missed settlements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31250-1FB5-4D53-842E-D7171AE8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Zero-dose and under-reached communities are not always visible.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02A38-E0C0-48D8-A6D8-98875835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6230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6122DD-F622-4EB9-A188-F55A576C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6230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3CA95E-FAB0-412E-8718-5528589F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Limited accountability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BA056E-D744-4888-9F3F-301DA431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Approvals, changes and follow-up actions are difficult to trace.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6E851-F478-4724-A39A-141B4EC2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ECE41-9B7C-4530-8AD5-CC3882A7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16AC2B-CDF9-441D-BFCE-47A3E61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Fragmented reporting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39F7AA-2328-4007-958F-1E73247C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Maps, sessions, stock and dashboards often sit in separate files.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2914B-5AC3-4374-9E51-6973A3C8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6"/>
                </a:solidFill>
              </a:defRPr>
            </a:pPr>
            <a:r>
              <a:rPr sz="1650" b="1">
                <a:solidFill>
                  <a:srgbClr val="071426"/>
                </a:solidFill>
              </a:rPr>
              <a:t>Planning quality is not only a data issue. It is also a workflow, visibility and accountability issue.</a:t>
            </a:r>
          </a:p>
        </p:txBody>
      </p:sp>
    </p:spTree>
    <p:extLst>
      <p:ext uri="{BB962C8B-B14F-4D97-AF65-F5344CB8AC3E}">
        <p14:creationId xmlns:p14="http://schemas.microsoft.com/office/powerpoint/2010/main" val="675406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CFABE3-AF88-42DE-9BE4-0BA39D3D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Why Digital Microplanning Is Needed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EE0D8-6C8B-48D9-8F23-C4ED0145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WHO, 2020; Gavi, 2024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B5C60-8B56-4547-BB67-DD28BEF9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FDDEB-7683-47D9-B849-C135A5C1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C72E9-6A10-4269-8D1F-7FDC38BC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c2d60183c444a"/>
          <a:srcRect xmlns:a="http://schemas.openxmlformats.org/drawingml/2006/main" l="7643" t="0" r="76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200150"/>
            <a:ext cx="476250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A4636-C6E6-4080-A32E-126C8DEE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76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C8E4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5ABA1-6831-4E92-B14D-4F087EFE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29150"/>
            <a:ext cx="453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A5E9"/>
                </a:solidFill>
              </a:defRPr>
            </a:pPr>
            <a:r>
              <a:rPr sz="975" b="1">
                <a:solidFill>
                  <a:srgbClr val="0EA5E9"/>
                </a:solidFill>
              </a:rPr>
              <a:t>Dashboard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35C8B-E0C3-452B-B31A-2B09811D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A national workspace can show planning status, alerts and programme activity in one place.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E5A84-A068-44F1-9F36-1CA41383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7BA08-EFBA-448A-8524-4EE0D04F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Coverage gaps are increasingly local and require precise follow-up.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6A324-5934-4D1E-B564-0AD38BDB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4F9A6-0BE5-4925-8FCF-CFA8E004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Teams need shared, up-to-date plans rather than static files.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5B708-D42D-4C26-807F-E1654F15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3AB1B-CA11-4057-86DC-7DA251E9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Partners need a transparent view of priorities, progress and bottlenecks.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6719F-DE78-438D-9B42-08AA0052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2FCBC-4C62-462D-8599-50CAD474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Digital systems can preserve an audit trail from plan creation to implementation review.</a:t>
            </a:r>
          </a:p>
        </p:txBody>
      </p:sp>
    </p:spTree>
    <p:extLst>
      <p:ext uri="{BB962C8B-B14F-4D97-AF65-F5344CB8AC3E}">
        <p14:creationId xmlns:p14="http://schemas.microsoft.com/office/powerpoint/2010/main" val="21407109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2A4BAB-B2CC-4BB2-8677-D135A580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What VaxPlan Is and Who It Serves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1A247-7C1A-4CD0-AF08-579C7F50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1ACC2-B2DE-40E4-BECF-3EB58A1A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9F45C-4776-4BE9-9737-5B1F5F3C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CC6AC-F7F4-4EAA-AC25-59F2383D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2B6E4-97E2-474A-8432-01CDDED6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426"/>
                </a:solidFill>
              </a:defRPr>
            </a:pPr>
            <a:r>
              <a:rPr sz="1800" b="1">
                <a:solidFill>
                  <a:srgbClr val="071426"/>
                </a:solidFill>
              </a:rPr>
              <a:t>VaxPlan is a GIS-enabled planning, coordination, logistics, reporting and accountability platform for immunization teams.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BFEBC-B7E6-4EBB-A41F-10367689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8969E-BC4D-423B-8C50-7C12D00E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58718-9B9D-4C72-8B45-1D652766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Health facilities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5BDA0-8F44-45A3-A8EB-5B74468B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Build catchment-based microplans and session plans.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FD765-A267-439C-91C7-5D292A5B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87C65-3FDB-4FCA-8978-B2EDB892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2A354-5C64-41E4-B576-A6F36598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574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District teams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7920A-9CDE-46D7-BCA5-82D6CB1B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Review plans, coverage gaps, supervision and resource needs.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AB9B6-D09D-43DC-BB4D-6CBD1414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DE7E5-C8E0-4298-A683-7C56ED1D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94A40-E769-4C46-8F3F-266F1660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National EPI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5EEE76-4735-448F-814F-BC8502B1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3840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Coordinate standards, approvals, reporting and programme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915C9-618A-4EA3-8E5E-A6A1763E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38366-2159-43EC-A3F6-528494D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21DBF-68C4-47B7-A604-D3196116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Partners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21149-BDD8-4F54-BF75-71297E38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Support evidence-based targeting, financing and implementation review.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15DA8-7AC6-40CE-A381-01BC7076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4330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0793EA-9A40-4E6D-8742-55E3BE98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43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CB6AD8-5B78-4460-82C5-57DA6F5D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ICT teams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140926-44DF-43BA-8EAA-6634E238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Manage users, roles, integrations, data governance and deployment.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757441-4668-452C-8485-77E28AA6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C3071B-4C64-496F-A69A-C7F8ABE5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F3711B-BAB5-466D-AFE3-047857C4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M&amp;E teams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831E0-B6D0-41F4-89E5-B6031DCB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Track indicators, missed communities, sessions and follow-up actions.</a:t>
            </a:r>
          </a:p>
        </p:txBody>
      </p:sp>
    </p:spTree>
    <p:extLst>
      <p:ext uri="{BB962C8B-B14F-4D97-AF65-F5344CB8AC3E}">
        <p14:creationId xmlns:p14="http://schemas.microsoft.com/office/powerpoint/2010/main" val="11338319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B54358-5C0A-4CFF-8916-43B5890B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How VaxPlan Addresses 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D4F1F-BEF4-48B3-B666-AF64514C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A1C1A-D173-41FB-A40B-2A763B0E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6D753-F49A-42E7-8A0A-643C84E3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2AC8D-6560-4814-B111-74ED8831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77AA2-9B28-4476-830C-C8D70038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4000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F3793-DD2F-44E5-B020-7B9E7BAC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19200"/>
            <a:ext cx="5334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B7DC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5CCE8-EB17-4D10-98F7-71C99F00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6"/>
                </a:solidFill>
              </a:defRPr>
            </a:pPr>
            <a:r>
              <a:rPr sz="1350" b="0">
                <a:solidFill>
                  <a:srgbClr val="5C6B76"/>
                </a:solidFill>
              </a:rPr>
              <a:t>From paper plans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2BA89-5D56-4F4F-9612-054069F0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3620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to structured digital microplans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75093-16DD-49DE-80B1-24ED99B7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620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A5E9"/>
                </a:solidFill>
              </a:defRPr>
            </a:pPr>
            <a:r>
              <a:rPr sz="1350" b="1">
                <a:solidFill>
                  <a:srgbClr val="0EA5E9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4F08B-9C94-485D-A3B6-658CFC6A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4000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73472-7751-456C-8EC1-C6626EF3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38350"/>
            <a:ext cx="5334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B7DC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F6842-EE70-49AA-B4B5-4563AB99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6"/>
                </a:solidFill>
              </a:defRPr>
            </a:pPr>
            <a:r>
              <a:rPr sz="1350" b="0">
                <a:solidFill>
                  <a:srgbClr val="5C6B76"/>
                </a:solidFill>
              </a:rPr>
              <a:t>From unknown catchments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CBCB5-E190-4D57-952B-201545F5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81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to mapped facilities, settlements and service areas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134F2-E747-44EC-BCA0-31A98DB9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812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A5E9"/>
                </a:solidFill>
              </a:defRPr>
            </a:pPr>
            <a:r>
              <a:rPr sz="1350" b="1">
                <a:solidFill>
                  <a:srgbClr val="0EA5E9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4DEC6-ABDD-4E90-A95B-E0B7FF27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4000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165B4-0803-417E-97D8-D6E09B06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57500"/>
            <a:ext cx="5334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B7DC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68C4E-86B6-4BB7-8880-455A8D45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6"/>
                </a:solidFill>
              </a:defRPr>
            </a:pPr>
            <a:r>
              <a:rPr sz="1350" b="0">
                <a:solidFill>
                  <a:srgbClr val="5C6B76"/>
                </a:solidFill>
              </a:rPr>
              <a:t>From separate logistics 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D3830-B666-4FCD-BC7E-AE642F2D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0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to session and stock visibility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8B0CB-2264-4EDC-AD6A-7663A5BD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0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A5E9"/>
                </a:solidFill>
              </a:defRPr>
            </a:pPr>
            <a:r>
              <a:rPr sz="1350" b="1">
                <a:solidFill>
                  <a:srgbClr val="0EA5E9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5B8D7-69A0-448B-A05C-1FC34479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4000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E4EB4-71E8-442F-97CC-83048479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76650"/>
            <a:ext cx="5334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B7DC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DA034-DDC6-408D-9838-2FFEF081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6"/>
                </a:solidFill>
              </a:defRPr>
            </a:pPr>
            <a:r>
              <a:rPr sz="1350" b="0">
                <a:solidFill>
                  <a:srgbClr val="5C6B76"/>
                </a:solidFill>
              </a:rPr>
              <a:t>From late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F2C86-9C95-4987-9ECF-A165F4A5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195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to approvals, notifications and dashboards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AC0519-B227-49D2-80A8-D560A42A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195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A5E9"/>
                </a:solidFill>
              </a:defRPr>
            </a:pPr>
            <a:r>
              <a:rPr sz="1350" b="1">
                <a:solidFill>
                  <a:srgbClr val="0EA5E9"/>
                </a:solidFill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3D4E57-DE54-46E3-B67F-2D18286A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4000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04DE7-22C4-493D-94DE-9D18B548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95800"/>
            <a:ext cx="5334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B7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D5E27-D35A-4A89-906F-BD764479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6"/>
                </a:solidFill>
              </a:defRPr>
            </a:pPr>
            <a:r>
              <a:rPr sz="1350" b="0">
                <a:solidFill>
                  <a:srgbClr val="5C6B76"/>
                </a:solidFill>
              </a:rPr>
              <a:t>From missed settlements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2498A4-0BAA-49E2-A52E-4C93E451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386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to explicit missed-community and zero-dose follow-up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B5D865-EF15-483A-8161-B6C59ABA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386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A5E9"/>
                </a:solidFill>
              </a:defRPr>
            </a:pPr>
            <a:r>
              <a:rPr sz="1350" b="1">
                <a:solidFill>
                  <a:srgbClr val="0EA5E9"/>
                </a:solidFill>
              </a:rPr>
              <a:t>-&gt;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1425F6-8704-4F5D-A649-AA6165EA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426"/>
                </a:solidFill>
              </a:defRPr>
            </a:pPr>
            <a:r>
              <a:rPr sz="1575" b="1">
                <a:solidFill>
                  <a:srgbClr val="071426"/>
                </a:solidFill>
              </a:rPr>
              <a:t>VaxPlan strengthens the microplanning cycle: identify, plan, resource, approve, implement, report and improve.</a:t>
            </a:r>
          </a:p>
        </p:txBody>
      </p:sp>
    </p:spTree>
    <p:extLst>
      <p:ext uri="{BB962C8B-B14F-4D97-AF65-F5344CB8AC3E}">
        <p14:creationId xmlns:p14="http://schemas.microsoft.com/office/powerpoint/2010/main" val="20630470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E2D06D-A090-461E-8F8F-A9D9CD71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Core Features and Functionality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1E4BF-05EE-4DEF-B7AE-07D2E091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A8A8C-CBFB-47EF-A5C4-4AB41FEE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75BB2-83C0-48D2-B9AB-FD1EBDE5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EDEB8-81A7-4030-92D0-00BB99B6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016D0-63D6-4D1F-B29D-35F763DD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72F68-AA76-4F43-868C-22CFB659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76081-3083-4D4C-ACEC-67A7EDDC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32929-DC02-4C7E-A25A-58BE9CF8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09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GIS facility and community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F4B3F-C628-4B00-A147-E1A2C1FB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1811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18746-A225-4093-ABBC-46D5C75A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097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DD652-674F-45B3-8E7B-F64589F2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66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9FC01-B2F7-49D7-B3DB-E4021FC5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409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Catchment area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E6F75-FC57-4A81-A74D-EED171E1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811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34EE1-B137-4AC1-B176-B1BA781D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097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6ED6E-4C38-4FCD-9896-D615D3B9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58C34-BBE6-4439-AB82-DE75DEF1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09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Outreach and session planning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39154-6E82-4758-8F26-EA990039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7E0AB-E029-4E67-B226-AA0C5133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CB30D-4F38-4857-9128-A6DA684E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8266C3-17E8-48B0-9188-D8ADBFE6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Population and settlement planning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DEC8C-F9B9-4603-B624-659C39FD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7175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046181-C1E5-45EF-9790-23F5AC7F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B024D-3922-449C-8415-580D953C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57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A2002-B65F-433E-92C8-A17CB897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0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Vaccine stock and logistics linkage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58215-2034-4CAC-BE52-D1291FC6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7F65F-E7AB-442A-9558-F93D5416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521D63-9500-421E-88D8-CA562363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273431-B879-4915-B11A-DEAA33C9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Role-based access control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117330-3B96-4B31-93DE-AC8BA010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A97134-7B4B-46B7-B571-EE1F67B4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3738C2-18F1-4264-A582-79CCE5F7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941680-37E2-4E98-87F0-1B6EBA0B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Dashboards and reporting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FF6E50-C2E9-4E55-8B93-D34D3C05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624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1EA379-4108-4D51-BA41-FDD5959A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AAF447-924C-4732-BE32-914EA08D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48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5EB804-06FF-496C-BE39-0448A274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91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Microplan generation and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A70F58-0432-4F28-8F6A-D0BBAC26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2210B3-98E9-4693-A95D-BCF60A39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D93C37-BE58-468B-9D81-D72B7FF2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48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290B6A-1851-45E3-99CB-052715B7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Workflow notifications</a:t>
            </a:r>
          </a:p>
        </p:txBody>
      </p:sp>
    </p:spTree>
    <p:extLst>
      <p:ext uri="{BB962C8B-B14F-4D97-AF65-F5344CB8AC3E}">
        <p14:creationId xmlns:p14="http://schemas.microsoft.com/office/powerpoint/2010/main" val="814119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DA5DDC-FF20-4302-B6C0-C12F41DD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Demonstration Screenshots: Evidence From the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D04CB-C0DF-4096-A2A5-5A51C59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90466-1583-485A-98C8-BD0C369C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1141A-E087-4376-994F-D569B4C8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EC862-5AB8-43DF-B8EB-EE7253B0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10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4e34dbe964469"/>
          <a:srcRect xmlns:a="http://schemas.openxmlformats.org/drawingml/2006/main" l="2687" t="0" r="26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123950"/>
            <a:ext cx="3429000" cy="2038350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a293e56c84e22"/>
          <a:srcRect xmlns:a="http://schemas.openxmlformats.org/drawingml/2006/main" l="2687" t="0" r="26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123950"/>
            <a:ext cx="3429000" cy="2038350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91649cfff4c05"/>
          <a:srcRect xmlns:a="http://schemas.openxmlformats.org/drawingml/2006/main" l="2687" t="0" r="26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1123950"/>
            <a:ext cx="3429000" cy="2038350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ACCD4-87D4-4366-B046-4B484189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3429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C8E4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8308A-446D-4544-8E2F-9E1480D4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A5E9"/>
                </a:solidFill>
              </a:defRPr>
            </a:pPr>
            <a:r>
              <a:rPr sz="975" b="1">
                <a:solidFill>
                  <a:srgbClr val="0EA5E9"/>
                </a:solidFill>
              </a:rPr>
              <a:t>GIS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8F049-4997-438B-8025-4AE2C144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Shows mapped communities, facilities, boundaries and planning layers.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003FF-5DAC-4AD9-B352-524CE675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76600"/>
            <a:ext cx="3429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C8E4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84332-13A6-4272-AD01-5A20CF5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52800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A5E9"/>
                </a:solidFill>
              </a:defRPr>
            </a:pPr>
            <a:r>
              <a:rPr sz="975" b="1">
                <a:solidFill>
                  <a:srgbClr val="0EA5E9"/>
                </a:solidFill>
              </a:rPr>
              <a:t>Point 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5FE5D-8A5C-4F13-B7E6-7A4B23AC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433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Shows location analysis for selected map points and service planning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B079A-0FA5-4654-80D9-AC2FD432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3429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C8E4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1FD67-D183-49C7-93B6-85FF7C26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52800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A5E9"/>
                </a:solidFill>
              </a:defRPr>
            </a:pPr>
            <a:r>
              <a:rPr sz="975" b="1">
                <a:solidFill>
                  <a:srgbClr val="0EA5E9"/>
                </a:solidFill>
              </a:rPr>
              <a:t>Microplan workspace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2F7CB-43DD-4517-B341-609F6CF0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Shows structured plan creation and review, not just map display.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b9cf9ad7b48b7"/>
          <a:srcRect xmlns:a="http://schemas.openxmlformats.org/drawingml/2006/main" l="0" t="12963" r="0" b="129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40576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0ceb5f6fd4563"/>
          <a:srcRect xmlns:a="http://schemas.openxmlformats.org/drawingml/2006/main" l="0" t="12963" r="0" b="129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40576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73ed0826d43e6"/>
          <a:srcRect xmlns:a="http://schemas.openxmlformats.org/drawingml/2006/main" l="0" t="12963" r="0" b="129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40576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EE518-8C7E-4BAB-B428-C0F0301E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A5E9"/>
                </a:solidFill>
              </a:defRPr>
            </a:pPr>
            <a:r>
              <a:rPr sz="975" b="1">
                <a:solidFill>
                  <a:srgbClr val="0EA5E9"/>
                </a:solidFill>
              </a:rPr>
              <a:t>Session planning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D0DEA-1BCB-4D6A-88CB-5E4516AC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81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A5E9"/>
                </a:solidFill>
              </a:defRPr>
            </a:pPr>
            <a:r>
              <a:rPr sz="975" b="1">
                <a:solidFill>
                  <a:srgbClr val="0EA5E9"/>
                </a:solidFill>
              </a:rPr>
              <a:t>Stock/logistics linkage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ED4F6-25E9-4EF2-ADB4-3CE732B6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81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A5E9"/>
                </a:solidFill>
              </a:defRPr>
            </a:pPr>
            <a:r>
              <a:rPr sz="975" b="1">
                <a:solidFill>
                  <a:srgbClr val="0EA5E9"/>
                </a:solidFill>
              </a:rPr>
              <a:t>Role-based user views</a:t>
            </a:r>
          </a:p>
        </p:txBody>
      </p:sp>
    </p:spTree>
    <p:extLst>
      <p:ext uri="{BB962C8B-B14F-4D97-AF65-F5344CB8AC3E}">
        <p14:creationId xmlns:p14="http://schemas.microsoft.com/office/powerpoint/2010/main" val="1111511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5C384E-8305-45DE-AA99-2563D6E7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Alignment to Global Standards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3CECB-B78B-417E-A71B-067DE3F7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WHO and UNICEF, 2017; WHO, 2020; UNICEF, 2023; Gavi, 2024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93ACB-F420-43AC-A324-69B2D828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025DF-B4DE-43A9-8D09-A6AA7DE2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4D517-0E7B-4C5D-A333-2830FDA5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33B18-3958-4BAE-B540-8E0162AF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5048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F4126-518A-4DCB-A07E-B44872B9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BE224-6E13-44FD-8EB4-FEB5A81F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WHO 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DBCA5-BA2B-46FF-B8BD-BCFE0BD2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724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Facility and district microplans; data use; supportive supervision; monitoring of drop-outs and coverage.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F9216-BB8B-4F36-8CEC-19B3828A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57300"/>
            <a:ext cx="5048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DBDB1-0D98-4E7F-BB08-26438C9E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573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39618-81EF-46E9-9000-E4CE7115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UNICEF zero-dose guidance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249E0-A429-4812-AB09-9D22E13E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24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Identify missed communities, use local settlement evidence and plan outreach based on need.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F17B4-333E-4E6A-A937-E120B197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5048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8A25C-F71C-4F43-BE9F-BF8F17F0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33F1B-C829-4EA0-B09A-6F3B4156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Gavi equity priorities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35376-BCB6-4CEB-8EDB-90218E4D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4724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Target zero-dose children and missed communities; strengthen health systems and accountability.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4CFA4-938F-4031-8C51-842F3B3D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9925"/>
            <a:ext cx="5048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3FBA2-7EB9-4687-A7A8-019A4084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9925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7F5E7-83FD-4BC8-9372-FE5DC9D7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Digital health practice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5A203-EFCF-4829-8407-C494BF24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4724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Reusable data, role controls, review workflows and dashboards for decision-making.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2CB40-C54F-4AA2-A3EB-988F53D6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426"/>
                </a:solidFill>
              </a:defRPr>
            </a:pPr>
            <a:r>
              <a:rPr sz="1575" b="1">
                <a:solidFill>
                  <a:srgbClr val="071426"/>
                </a:solidFill>
              </a:rPr>
              <a:t>Interpretation: VaxPlan operationalizes guidance by making facility-level planning data visible, reviewable and actionable.</a:t>
            </a:r>
          </a:p>
        </p:txBody>
      </p:sp>
    </p:spTree>
    <p:extLst>
      <p:ext uri="{BB962C8B-B14F-4D97-AF65-F5344CB8AC3E}">
        <p14:creationId xmlns:p14="http://schemas.microsoft.com/office/powerpoint/2010/main" val="7385450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A0A4D5-14F1-4E05-8731-AF103658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Value for Ministries of Health and Partners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04765-2C37-4EEC-993D-18769D32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85C59-0990-46F0-AE8D-9E22D367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02F9E-D3D4-4D7C-9A57-3EBB254B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0AC10-1230-4E7E-9277-94D479E5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399398cf44235"/>
          <a:srcRect xmlns:a="http://schemas.openxmlformats.org/drawingml/2006/main" l="7359" t="0" r="7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200150"/>
            <a:ext cx="447675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57B23-9B2F-46CC-92E9-8528B310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4476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C8E4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E5C02-83DB-4E34-AF15-D466B91E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19600"/>
            <a:ext cx="424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A5E9"/>
                </a:solidFill>
              </a:defRPr>
            </a:pPr>
            <a:r>
              <a:rPr sz="975" b="1">
                <a:solidFill>
                  <a:srgbClr val="0EA5E9"/>
                </a:solidFill>
              </a:rPr>
              <a:t>Reports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0F063-46FF-49F9-91EE-459CDEDC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101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Dashboards and exports help convert implementation activity into reviewable programme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3165B-22F9-4D42-9728-DE39EA9E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4236B-210D-47A9-B4E3-7B7F9C8B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535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Improves visibility of facility catchments, populations and missed places.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7489E-872A-409F-B401-563C81D0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A276C-E5E5-4305-84F9-ACDF7851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535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Supports transparent planning review across facility, district and national levels.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64FCF-6195-4A4D-9E27-BC02342A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D1F88-1CBA-4FE6-AD98-7EDE7CBE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535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Links microplans to sessions, stock readiness and implementation monitoring.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FCC34-1C71-4CC6-8BC6-FF1B57F4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7FF7A-8FD8-4265-B162-FA9F16D7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535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Creates evidence for partner coordination, resource allocation and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1104771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1645B8-0895-4F23-A3E8-65D5B01E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Implementation and Pilot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A8687-012D-418A-BD52-DF82B58B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9E8D7-1287-42FC-96E4-A0EFEBD7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10479-948A-4928-8F81-789B1F30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3F2C5-9C2A-4E27-933F-1D16A55D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9E7B8-3342-4D15-BC26-82B21997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D35CE-B895-4D3D-AF7C-2ACB3819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41800-8A71-46C7-9111-FB07EC73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4EA2D-03C7-41EE-9AD7-531C8A69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1. Prepare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3CA35-86C8-4099-A635-BD43450C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Confirm governance, users, facilities, boundaries, population sources and integration needs.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B85C8-8706-44F8-9F6B-9FD650C6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0F784-7649-4C35-AEC8-AF9E4BD2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8669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8C8D6-6007-45AA-9785-1D3A0C77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62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9DF35-DF1A-4FBC-A6A4-76197658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2. Configure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020E3-DFA6-4FF8-956D-D9AF8849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97180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Set country profile, vaccines, roles, reporting periods, modules and data access rules.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CC6A9-752E-44D7-8AB9-3DD62EF2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6986F-7CBD-4DD4-A0CC-92C8F2DE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669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995A0-905D-44BE-9384-7E3B4C47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62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030D7-6389-4AA3-B8B4-10E37A31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3. 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D9E11B-8B45-4C7D-8875-EB607357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7180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Select districts, digitize microplans, plan sessions and test reporting loops.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73072-16E9-404A-9D33-3932994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5FCEB7-47A2-4D5F-B6D2-588ACE6F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8669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B873D5-4410-478D-A508-78A8CC2B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62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2937A1-5DA3-4991-A54F-6FEE76D4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4.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BE57E9-C43A-47C2-A051-888EDEB7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97180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Assess usability, data quality, operational fit, training needs and sustainability.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7B6210-6375-46A1-A707-2EDF30F0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7659B8-4645-4893-A172-3B6ACA6B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8E2B9C-6192-4FBD-AFF8-DD50B6C9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62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4D4559-C565-4A0C-81A5-821B4F8C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5. Scale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3BC7FF-FEBA-4E7A-8138-229A2DE2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7180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6"/>
                </a:solidFill>
              </a:defRPr>
            </a:pPr>
            <a:r>
              <a:rPr sz="1050" b="0">
                <a:solidFill>
                  <a:srgbClr val="5C6B76"/>
                </a:solidFill>
              </a:rPr>
              <a:t>Refine SOPs, onboarding, hosting, support model and national rollout plan.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A65318-A313-488B-8292-F8E079FF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426"/>
                </a:solidFill>
              </a:defRPr>
            </a:pPr>
            <a:r>
              <a:rPr sz="1575" b="1">
                <a:solidFill>
                  <a:srgbClr val="071426"/>
                </a:solidFill>
              </a:rPr>
              <a:t>Pilot principle: start small enough to learn, but complete enough to test the full microplanning workflow.</a:t>
            </a:r>
          </a:p>
        </p:txBody>
      </p:sp>
    </p:spTree>
    <p:extLst>
      <p:ext uri="{BB962C8B-B14F-4D97-AF65-F5344CB8AC3E}">
        <p14:creationId xmlns:p14="http://schemas.microsoft.com/office/powerpoint/2010/main" val="1738850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781B57-ABE8-443D-89E6-24B202E8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Risks, Assumptions and TWG Decision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DED25-81BD-464A-B80C-9ACA4D2E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VaxPlan,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D8741-7E3C-48F9-AAE5-6726FB78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AAB2D-F943-4CE6-A31C-DACAB6A3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750E5-6B92-48B7-ADAB-1C5343F7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4AAEE-2D6B-4AF1-9015-44D2A381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98FB5-BCDB-4E8E-97EC-98FB0446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A44DC-EC75-4F73-A120-3DDA6491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Data 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6727B-BBCD-41CB-BAED-8BA0C5BE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Validate facility lists, boundaries, population layers and community records before pilot decisions. Mitigation: data readiness checklist and district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A2167-8B13-4C73-82AC-7AA0E3D8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00150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80860-EAC8-49AA-B60C-E464EE34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00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AA993-0DF7-4CB1-85AA-158E9BB6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716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User adoption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B5E13-609F-4731-B81A-72AF1035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Users may see digital microplans as extra work if workflows are not aligned. Mitigation: role-based training and simple SOPs.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71D5A-579D-4794-B429-818B31C5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AB293-A619-45A2-9C35-518AA496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E4E52-C2E8-4D80-9D27-45342169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Interoperability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F0FB9-75DC-4511-AD67-D22353D3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Stock, DHIS2/HMIS or identity integrations may vary by country. Mitigation: phased integration plan.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17000-DBCA-4379-960E-BFA4E75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60FE6-AFD1-4054-98B4-4B423583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21310-D4B7-49F0-BA0D-94A730F5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Sustainability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79C07-24FE-4E70-93DE-4C5E7F21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6"/>
                </a:solidFill>
              </a:defRPr>
            </a:pPr>
            <a:r>
              <a:rPr sz="1200" b="0">
                <a:solidFill>
                  <a:srgbClr val="5C6B76"/>
                </a:solidFill>
              </a:rPr>
              <a:t>Hosting, support and ownership must be clear before scale. Mitigation: MoH-led governance and partner support model.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2B2F1-295C-416F-9F1F-CE67304B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06299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B7DC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9CB41-9452-4C72-B1FD-9578EA2F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Decision points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07F922-4624-442B-A2C6-CEE3CB96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625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Approve pilot scope; confirm data governance; nominate technical and programme focal persons; agree success indicators; approve next implementation workshop.</a:t>
            </a:r>
          </a:p>
        </p:txBody>
      </p:sp>
    </p:spTree>
    <p:extLst>
      <p:ext uri="{BB962C8B-B14F-4D97-AF65-F5344CB8AC3E}">
        <p14:creationId xmlns:p14="http://schemas.microsoft.com/office/powerpoint/2010/main" val="15002068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A8F4ED-3CFB-4432-9D7C-486E11BF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426"/>
                </a:solidFill>
              </a:defRPr>
            </a:pPr>
            <a:r>
              <a:rPr sz="2700" b="1">
                <a:solidFill>
                  <a:srgbClr val="071426"/>
                </a:solidFill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D63D1-D1E4-44DE-8E62-AD0FFAEE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B76"/>
                </a:solidFill>
              </a:defRPr>
            </a:pPr>
            <a:r>
              <a:rPr sz="900" b="0">
                <a:solidFill>
                  <a:srgbClr val="5C6B76"/>
                </a:solidFill>
              </a:rPr>
              <a:t>Harvard style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C8799-634D-4738-B7E9-6C4A732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C40B6-83ED-4261-9ED3-68F00829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VaxPlan | Digital Health Technical Working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24260-1966-4258-BCC1-11EC2B92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D9EDF7"/>
                </a:solidFill>
              </a:defRPr>
            </a:pPr>
            <a:r>
              <a:rPr sz="675" b="0">
                <a:solidFill>
                  <a:srgbClr val="D9EDF7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27AD9-8F92-47E3-8860-FB6B3154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Gavi (2024) Gavi 5.0 strategy and immunisation systems strengthening guidance. Geneva: Gavi, the Vaccine Alliance. Available at: https://www.gavi.org/.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74C64-F193-4B7B-95F0-521364FC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UNICEF (2023) Immunization microplanning and zero-dose/missed communities guidance. New York: United Nations Children's Fund. Available at: https://www.unicef.org/immunization/.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1DB40-B9DD-4AB7-820C-F93385E6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WHO (2015) Immunization in practice: a practical guide for health staff. Geneva: World Health Organization.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2B284-08CC-445E-9122-3AE1200E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WHO (2020) Immunization Agenda 2030: a global strategy to leave no one behind. Geneva: World Health Organization. Available at: https://www.immunizationagenda2030.org/.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8A6A3-083C-4CAF-B0A0-119CB116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WHO and UNICEF (2017) Reaching Every District: a guide to increasing coverage and equity in all communities in the African Region. Geneva/New York: World Health Organization and UNICEF.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ED00B-0E03-4B7B-84CF-9ECFBAD6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VaxPlan (2026) VaxPlan local development instance, Zambia example screenshots and VaxPlan brand resources captured for Digital Health TWG briefing, 28 June 2026.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421F3-C3C0-47D1-A952-FC90A5DF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</a:defRPr>
            </a:pPr>
            <a:r>
              <a:rPr sz="1125" b="1">
                <a:solidFill>
                  <a:srgbClr val="0EA5E9"/>
                </a:solidFill>
              </a:rPr>
              <a:t>Note: screenshots are embedded from the working VaxPlan app and are used as product evidence.</a:t>
            </a:r>
          </a:p>
        </p:txBody>
      </p:sp>
    </p:spTree>
    <p:extLst>
      <p:ext uri="{BB962C8B-B14F-4D97-AF65-F5344CB8AC3E}">
        <p14:creationId xmlns:p14="http://schemas.microsoft.com/office/powerpoint/2010/main" val="981022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2026-06-28T15:31:54.6110000Z</dcterms:created>
  <dcterms:modified xsi:type="dcterms:W3CDTF">2026-06-28T15:31:54.6120000Z</dcterms:modified>
</coreProperties>
</file>