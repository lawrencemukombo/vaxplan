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fee8b17f448e9" /><Relationship Type="http://schemas.openxmlformats.org/officeDocument/2006/relationships/extended-properties" Target="/docProps/app.xml" Id="R0820be73f2ae4533" /><Relationship Type="http://schemas.openxmlformats.org/officeDocument/2006/relationships/officeDocument" Target="/ppt/presentation.xml" Id="R39f647926491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0c8d050ec84498"/>
  </p:sldMasterIdLst>
  <p:notesMasterIdLst>
    <p:notesMasterId xmlns:r="http://schemas.openxmlformats.org/officeDocument/2006/relationships" r:id="R2829f6b70bfa4ae5"/>
  </p:notesMasterIdLst>
  <p:sldIdLst>
    <p:sldId xmlns:r="http://schemas.openxmlformats.org/officeDocument/2006/relationships" id="256" r:id="R35ec41f4f9834dea"/>
    <p:sldId xmlns:r="http://schemas.openxmlformats.org/officeDocument/2006/relationships" id="257" r:id="Rd18d9f5f9a154f28"/>
    <p:sldId xmlns:r="http://schemas.openxmlformats.org/officeDocument/2006/relationships" id="258" r:id="R3c9a52beab6a48cd"/>
    <p:sldId xmlns:r="http://schemas.openxmlformats.org/officeDocument/2006/relationships" id="259" r:id="R40ca8c3a955a44ba"/>
    <p:sldId xmlns:r="http://schemas.openxmlformats.org/officeDocument/2006/relationships" id="260" r:id="Rdc1f35f331ce44d0"/>
    <p:sldId xmlns:r="http://schemas.openxmlformats.org/officeDocument/2006/relationships" id="261" r:id="Rce7a5945b8974304"/>
    <p:sldId xmlns:r="http://schemas.openxmlformats.org/officeDocument/2006/relationships" id="262" r:id="R62cb78b0af1e4164"/>
    <p:sldId xmlns:r="http://schemas.openxmlformats.org/officeDocument/2006/relationships" id="263" r:id="R1d0ae313a79f4066"/>
    <p:sldId xmlns:r="http://schemas.openxmlformats.org/officeDocument/2006/relationships" id="264" r:id="Rb7fa52099ad649ff"/>
    <p:sldId xmlns:r="http://schemas.openxmlformats.org/officeDocument/2006/relationships" id="265" r:id="R09214b1071b2441b"/>
    <p:sldId xmlns:r="http://schemas.openxmlformats.org/officeDocument/2006/relationships" id="266" r:id="Ra2d23f4c5b8f4c00"/>
    <p:sldId xmlns:r="http://schemas.openxmlformats.org/officeDocument/2006/relationships" id="267" r:id="R855620f0ab5e4a3d"/>
    <p:sldId xmlns:r="http://schemas.openxmlformats.org/officeDocument/2006/relationships" id="268" r:id="R956f0be320cf455d"/>
    <p:sldId xmlns:r="http://schemas.openxmlformats.org/officeDocument/2006/relationships" id="269" r:id="R808ce21859e54dcb"/>
    <p:sldId xmlns:r="http://schemas.openxmlformats.org/officeDocument/2006/relationships" id="270" r:id="R4b99c541b15e4a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a1cbb430c5450a" /><Relationship Type="http://schemas.openxmlformats.org/officeDocument/2006/relationships/slideMaster" Target="/ppt/slideMasters/slideMaster1.xml" Id="R5a0c8d050ec84498" /><Relationship Type="http://schemas.openxmlformats.org/officeDocument/2006/relationships/notesMaster" Target="/ppt/notesMasters/notesMaster1.xml" Id="R2829f6b70bfa4ae5" /><Relationship Type="http://schemas.openxmlformats.org/officeDocument/2006/relationships/presProps" Target="/ppt/presProps.xml" Id="Re6654a6dc7c54f96" /><Relationship Type="http://schemas.openxmlformats.org/officeDocument/2006/relationships/tableStyles" Target="/ppt/tableStyles.xml" Id="R57d84e5c0bcd4c34" /><Relationship Type="http://schemas.openxmlformats.org/officeDocument/2006/relationships/slide" Target="/ppt/slides/slide1.xml" Id="R35ec41f4f9834dea" /><Relationship Type="http://schemas.openxmlformats.org/officeDocument/2006/relationships/slide" Target="/ppt/slides/slide2.xml" Id="Rd18d9f5f9a154f28" /><Relationship Type="http://schemas.openxmlformats.org/officeDocument/2006/relationships/slide" Target="/ppt/slides/slide3.xml" Id="R3c9a52beab6a48cd" /><Relationship Type="http://schemas.openxmlformats.org/officeDocument/2006/relationships/slide" Target="/ppt/slides/slide4.xml" Id="R40ca8c3a955a44ba" /><Relationship Type="http://schemas.openxmlformats.org/officeDocument/2006/relationships/slide" Target="/ppt/slides/slide5.xml" Id="Rdc1f35f331ce44d0" /><Relationship Type="http://schemas.openxmlformats.org/officeDocument/2006/relationships/slide" Target="/ppt/slides/slide6.xml" Id="Rce7a5945b8974304" /><Relationship Type="http://schemas.openxmlformats.org/officeDocument/2006/relationships/slide" Target="/ppt/slides/slide7.xml" Id="R62cb78b0af1e4164" /><Relationship Type="http://schemas.openxmlformats.org/officeDocument/2006/relationships/slide" Target="/ppt/slides/slide8.xml" Id="R1d0ae313a79f4066" /><Relationship Type="http://schemas.openxmlformats.org/officeDocument/2006/relationships/slide" Target="/ppt/slides/slide9.xml" Id="Rb7fa52099ad649ff" /><Relationship Type="http://schemas.openxmlformats.org/officeDocument/2006/relationships/slide" Target="/ppt/slides/slide10.xml" Id="R09214b1071b2441b" /><Relationship Type="http://schemas.openxmlformats.org/officeDocument/2006/relationships/slide" Target="/ppt/slides/slide11.xml" Id="Ra2d23f4c5b8f4c00" /><Relationship Type="http://schemas.openxmlformats.org/officeDocument/2006/relationships/slide" Target="/ppt/slides/slide12.xml" Id="R855620f0ab5e4a3d" /><Relationship Type="http://schemas.openxmlformats.org/officeDocument/2006/relationships/slide" Target="/ppt/slides/slide13.xml" Id="R956f0be320cf455d" /><Relationship Type="http://schemas.openxmlformats.org/officeDocument/2006/relationships/slide" Target="/ppt/slides/slide14.xml" Id="R808ce21859e54dcb" /><Relationship Type="http://schemas.openxmlformats.org/officeDocument/2006/relationships/slide" Target="/ppt/slides/slide15.xml" Id="R4b99c541b15e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ab9a5051c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45695fdbcd4d31" /><Relationship Type="http://schemas.openxmlformats.org/officeDocument/2006/relationships/notesMaster" Target="/ppt/notesMasters/notesMaster1.xml" Id="R09790c5b2ac740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04f55a815043ba" /><Relationship Type="http://schemas.openxmlformats.org/officeDocument/2006/relationships/notesMaster" Target="/ppt/notesMasters/notesMaster1.xml" Id="R8fc379f037914c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2afd43a5604554" /><Relationship Type="http://schemas.openxmlformats.org/officeDocument/2006/relationships/notesMaster" Target="/ppt/notesMasters/notesMaster1.xml" Id="R85236d0c6c4e45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eaeed89638428a" /><Relationship Type="http://schemas.openxmlformats.org/officeDocument/2006/relationships/notesMaster" Target="/ppt/notesMasters/notesMaster1.xml" Id="Re3f97f5f0dfe46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df4216a9d0454f" /><Relationship Type="http://schemas.openxmlformats.org/officeDocument/2006/relationships/notesMaster" Target="/ppt/notesMasters/notesMaster1.xml" Id="R64d3268efa9c4f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2e896ebbb54cf9" /><Relationship Type="http://schemas.openxmlformats.org/officeDocument/2006/relationships/notesMaster" Target="/ppt/notesMasters/notesMaster1.xml" Id="Rc22939224273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fe6f2d2a54396" /><Relationship Type="http://schemas.openxmlformats.org/officeDocument/2006/relationships/notesMaster" Target="/ppt/notesMasters/notesMaster1.xml" Id="R94dafd279e3f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9fd1cde0714a60" /><Relationship Type="http://schemas.openxmlformats.org/officeDocument/2006/relationships/notesMaster" Target="/ppt/notesMasters/notesMaster1.xml" Id="R7ebb9a43c60547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6e9cf6ab7406b" /><Relationship Type="http://schemas.openxmlformats.org/officeDocument/2006/relationships/notesMaster" Target="/ppt/notesMasters/notesMaster1.xml" Id="Rfcd5e01b3a7547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d357f5054c4fe9" /><Relationship Type="http://schemas.openxmlformats.org/officeDocument/2006/relationships/notesMaster" Target="/ppt/notesMasters/notesMaster1.xml" Id="R2a07dd15bb4649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da9b5aec84027" /><Relationship Type="http://schemas.openxmlformats.org/officeDocument/2006/relationships/notesMaster" Target="/ppt/notesMasters/notesMaster1.xml" Id="R46a239a2748c4b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771e6573fc4c26" /><Relationship Type="http://schemas.openxmlformats.org/officeDocument/2006/relationships/notesMaster" Target="/ppt/notesMasters/notesMaster1.xml" Id="R17119efa4d9240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ed067ca8d34bea" /><Relationship Type="http://schemas.openxmlformats.org/officeDocument/2006/relationships/notesMaster" Target="/ppt/notesMasters/notesMaster1.xml" Id="R600e7c5b2f7940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5a2870ce1944c9" /><Relationship Type="http://schemas.openxmlformats.org/officeDocument/2006/relationships/notesMaster" Target="/ppt/notesMasters/notesMaster1.xml" Id="Rfc37307fbc884c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741de04eb44883" /><Relationship Type="http://schemas.openxmlformats.org/officeDocument/2006/relationships/notesMaster" Target="/ppt/notesMasters/notesMaster1.xml" Id="R2527fe361881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VaxPlan as a planning and accountability platform, not simply a mapping tool.</a:t>
            </a:r>
          </a:p>
          <a:p xmlns:a="http://schemas.openxmlformats.org/drawingml/2006/main">
            <a:r>
              <a:t>The screenshot is intentionally shown on the title slide to signal that the briefing is grounded in working software.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expectations: the TWG is being asked to review the platform as part of the digital health ecosystem.</a:t>
            </a:r>
          </a:p>
          <a:p xmlns:a="http://schemas.openxmlformats.org/drawingml/2006/main">
            <a:r>
              <a:t>Emphasize plain language: VaxPlan connects planning data, GIS evidence and workflow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microplanning as an operational planning process rather than a document.</a:t>
            </a:r>
          </a:p>
          <a:p xmlns:a="http://schemas.openxmlformats.org/drawingml/2006/main">
            <a:r>
              <a:t>For non-public-health technical officers, compare it to converting a national strategy into a facility-level workplan with geospatial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global guidance without using technical jargon.</a:t>
            </a:r>
          </a:p>
          <a:p xmlns:a="http://schemas.openxmlformats.org/drawingml/2006/main">
            <a:r>
              <a:t>Make clear that VaxPlan digitizes these steps; it does not replace policy or national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in operational terms: a plan that cannot be seen, updated or verified becomes weak quickly.</a:t>
            </a:r>
          </a:p>
          <a:p xmlns:a="http://schemas.openxmlformats.org/drawingml/2006/main">
            <a:r>
              <a:t>Use this slide to connect public-health and ICT audiences around a shared systems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digital microplanning is about decision support, not technology for its own sake.</a:t>
            </a:r>
          </a:p>
          <a:p xmlns:a="http://schemas.openxmlformats.org/drawingml/2006/main">
            <a:r>
              <a:t>Point to the dashboard as evidence that VaxPlan creates a shared operational picture.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VaxPlan serves multiple roles, not only GIS officers.</a:t>
            </a:r>
          </a:p>
          <a:p xmlns:a="http://schemas.openxmlformats.org/drawingml/2006/main">
            <a:r>
              <a:t>For ICT officers, highlight user roles, integrations and deployment; for programme teams, highlight planning and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bridge from problem to product.</a:t>
            </a:r>
          </a:p>
          <a:p xmlns:a="http://schemas.openxmlformats.org/drawingml/2006/main">
            <a:r>
              <a:t>Describe the shift as a controlled workflow: data enters once and is reused for maps, sessions, logistics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feature catalogue. Keep the narration concise and connect each feature to a planning problem.</a:t>
            </a:r>
          </a:p>
          <a:p xmlns:a="http://schemas.openxmlformats.org/drawingml/2006/main">
            <a:r>
              <a:t>Mention that the platform links these features into one workflow rather than treating them as separate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as proof points, not decoration.</a:t>
            </a:r>
          </a:p>
          <a:p xmlns:a="http://schemas.openxmlformats.org/drawingml/2006/main">
            <a:r>
              <a:t>Call out that each screenshot demonstrates a different operational function: GIS, intelligence, microplanning, sessions, logistics and role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alignment means VaxPlan supports recommended planning practices; it does not claim endorsement by WHO, UNICEF or Gavi.</a:t>
            </a:r>
          </a:p>
          <a:p xmlns:a="http://schemas.openxmlformats.org/drawingml/2006/main">
            <a:r>
              <a:t>Use simple terms: VaxPlan helps teams find the missed, plan the service, track the work and review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 to value by audience: MoH leadership gets visibility, districts get planning tools, partners get evidence, ICT gets governance controls.</a:t>
            </a:r>
          </a:p>
          <a:p xmlns:a="http://schemas.openxmlformats.org/drawingml/2006/main">
            <a:r>
              <a:t>Emphasize that value comes from integrated workflow, not from map display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 a controlled pilot rather than an immediate full national deployment.</a:t>
            </a:r>
          </a:p>
          <a:p xmlns:a="http://schemas.openxmlformats.org/drawingml/2006/main">
            <a:r>
              <a:t>The pilot should test governance, data readiness, user training, reporting and technical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main narrative by making the TWG ask explicit.</a:t>
            </a:r>
          </a:p>
          <a:p xmlns:a="http://schemas.openxmlformats.org/drawingml/2006/main">
            <a:r>
              <a:t>The key decisions are governance, pilot scope, focal persons, success indicators and next workshop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acknowledge the sources used for the briefing.</a:t>
            </a:r>
          </a:p>
          <a:p xmlns:a="http://schemas.openxmlformats.org/drawingml/2006/main">
            <a:r>
              <a:t>Clarify that screenshots are from the local VaxPlan working instance and global guidance references are used to frame alignment.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8f758bc4748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f110a0c32a415b" /><Relationship Type="http://schemas.openxmlformats.org/officeDocument/2006/relationships/slideLayout" Target="/ppt/slideLayouts/slideLayout1.xml" Id="R4e3e7e4d70aa47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e7e4d70aa47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6deaa049c4b78" /><Relationship Type="http://schemas.openxmlformats.org/officeDocument/2006/relationships/image" Target="/ppt/media/image.jpeg" Id="R8bf3601efc45488e" /><Relationship Type="http://schemas.openxmlformats.org/officeDocument/2006/relationships/image" Target="/ppt/media/image.png" Id="Rcacd5dd546564f84" /><Relationship Type="http://schemas.openxmlformats.org/officeDocument/2006/relationships/notesSlide" Target="/ppt/notesSlides/notesSlide1.xml" Id="Ra80cf311ff98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9646113564c73" /><Relationship Type="http://schemas.openxmlformats.org/officeDocument/2006/relationships/notesSlide" Target="/ppt/notesSlides/notesSlide2.xml" Id="R1a67d4ade9ad4b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257099d6487b" /><Relationship Type="http://schemas.openxmlformats.org/officeDocument/2006/relationships/notesSlide" Target="/ppt/notesSlides/notesSlide3.xml" Id="R2f8a610de2f24b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eade2eeb24d8e" /><Relationship Type="http://schemas.openxmlformats.org/officeDocument/2006/relationships/notesSlide" Target="/ppt/notesSlides/notesSlide4.xml" Id="R0db739ab6ce0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6f243008f4aa8" /><Relationship Type="http://schemas.openxmlformats.org/officeDocument/2006/relationships/notesSlide" Target="/ppt/notesSlides/notesSlide5.xml" Id="Rb3ac07b3d71a4f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1e250cd1f4574" /><Relationship Type="http://schemas.openxmlformats.org/officeDocument/2006/relationships/image" Target="/ppt/media/image2.png" Id="Rcc853c49c6694607" /><Relationship Type="http://schemas.openxmlformats.org/officeDocument/2006/relationships/notesSlide" Target="/ppt/notesSlides/notesSlide6.xml" Id="Rbe3cb2330b2a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1e66425cc4bf1" /><Relationship Type="http://schemas.openxmlformats.org/officeDocument/2006/relationships/notesSlide" Target="/ppt/notesSlides/notesSlide7.xml" Id="Rdd0ce339eaa143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783771f994aaf" /><Relationship Type="http://schemas.openxmlformats.org/officeDocument/2006/relationships/notesSlide" Target="/ppt/notesSlides/notesSlide8.xml" Id="Rfe28334be299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d6432a07f4075" /><Relationship Type="http://schemas.openxmlformats.org/officeDocument/2006/relationships/notesSlide" Target="/ppt/notesSlides/notesSlide9.xml" Id="R9a9eee2d8e5a42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4f00708a8434a" /><Relationship Type="http://schemas.openxmlformats.org/officeDocument/2006/relationships/image" Target="/ppt/media/image3.png" Id="R5567497594154fd6" /><Relationship Type="http://schemas.openxmlformats.org/officeDocument/2006/relationships/image" Target="/ppt/media/image4.png" Id="R9661221ede134606" /><Relationship Type="http://schemas.openxmlformats.org/officeDocument/2006/relationships/image" Target="/ppt/media/image5.png" Id="Ref6287e221ea4a14" /><Relationship Type="http://schemas.openxmlformats.org/officeDocument/2006/relationships/image" Target="/ppt/media/image6.png" Id="Ra3c1c931bff24bd6" /><Relationship Type="http://schemas.openxmlformats.org/officeDocument/2006/relationships/image" Target="/ppt/media/image7.png" Id="Rb095c47eab744a80" /><Relationship Type="http://schemas.openxmlformats.org/officeDocument/2006/relationships/image" Target="/ppt/media/image8.png" Id="Rf52cfa032d894cb3" /><Relationship Type="http://schemas.openxmlformats.org/officeDocument/2006/relationships/notesSlide" Target="/ppt/notesSlides/notesSlide10.xml" Id="Rc67bae6bfde848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58749e33d4111" /><Relationship Type="http://schemas.openxmlformats.org/officeDocument/2006/relationships/notesSlide" Target="/ppt/notesSlides/notesSlide11.xml" Id="R2130ab2dfde54f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d1c3b3eae4384" /><Relationship Type="http://schemas.openxmlformats.org/officeDocument/2006/relationships/image" Target="/ppt/media/image9.png" Id="R68a149f250164d37" /><Relationship Type="http://schemas.openxmlformats.org/officeDocument/2006/relationships/notesSlide" Target="/ppt/notesSlides/notesSlide12.xml" Id="R036d58b578aa48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b8fbce567451d" /><Relationship Type="http://schemas.openxmlformats.org/officeDocument/2006/relationships/notesSlide" Target="/ppt/notesSlides/notesSlide13.xml" Id="R7638b85e90f04b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bc71a954c4368" /><Relationship Type="http://schemas.openxmlformats.org/officeDocument/2006/relationships/notesSlide" Target="/ppt/notesSlides/notesSlide14.xml" Id="Rb09be4b7036543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d4d5806974e55" /><Relationship Type="http://schemas.openxmlformats.org/officeDocument/2006/relationships/notesSlide" Target="/ppt/notesSlides/notesSlide15.xml" Id="Rf5d3950ca5e14d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7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83CAF9-B9B8-4F9B-86AE-1451C2A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F8C6F-A6D1-49B3-9740-B14927CC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3601efc45488e"/>
          <a:stretch xmlns:a="http://schemas.openxmlformats.org/drawingml/2006/main"/>
        </p:blipFill>
        <p:spPr>
          <a:xfrm xmlns:a="http://schemas.openxmlformats.org/drawingml/2006/main">
            <a:off x="1038225" y="5905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60CAA-01E4-4519-B7D9-66CE36D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GIS-enabled Immunization Microplanning and Planning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EF739-BC7C-4AC3-97D2-F2DED147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DF7"/>
                </a:solidFill>
              </a:defRPr>
            </a:pPr>
            <a:r>
              <a:rPr sz="1500" b="0">
                <a:solidFill>
                  <a:srgbClr val="D9EDF7"/>
                </a:solidFill>
              </a:rPr>
              <a:t>Digital Health Technical Working Group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02BAF-72C4-46E0-AF81-5ECA2DA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8E6"/>
                </a:solidFill>
              </a:defRPr>
            </a:pPr>
            <a:r>
              <a:rPr sz="1200" b="0">
                <a:solidFill>
                  <a:srgbClr val="B7D8E6"/>
                </a:solidFill>
              </a:rPr>
              <a:t>Prepared for digital health, ICT, programme, M&amp;E and partner stakeholders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d5dd546564f84"/>
          <a:srcRect xmlns:a="http://schemas.openxmlformats.org/drawingml/2006/main" l="5412" t="0" r="54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742950"/>
            <a:ext cx="6191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4C337-5F28-4FEC-9962-9ABE207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38700"/>
            <a:ext cx="6191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8D564-FBD9-4938-8257-E2623EE9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596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Live app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EAD50-E0DF-4E0C-8BA2-04A017D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596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Map screenshot from the working VaxPlan instance, showing GIS-enabled planning layers and operational data.</a:t>
            </a:r>
          </a:p>
        </p:txBody>
      </p:sp>
    </p:spTree>
    <p:extLst>
      <p:ext uri="{BB962C8B-B14F-4D97-AF65-F5344CB8AC3E}">
        <p14:creationId xmlns:p14="http://schemas.microsoft.com/office/powerpoint/2010/main" val="1224350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4C17B-ED11-4B10-B674-9B742728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Why This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BB4D2-10A1-4C76-9270-092C5A9E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907E3-C895-4AA1-AA8F-352ECA98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A0594-D6A3-4C81-B476-A71669A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16E0A-79D1-4AF6-A97D-EFBF161A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FB73E-EB96-4DA6-82B4-A7FB62D6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EA6"/>
                </a:solidFill>
              </a:defRPr>
            </a:pPr>
            <a:r>
              <a:rPr sz="1800" b="1">
                <a:solidFill>
                  <a:srgbClr val="147EA6"/>
                </a:solidFill>
              </a:rPr>
              <a:t>Purpose for the Digital Health TWG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8C081-9E5C-4CE2-AF68-10BA057B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8AF8E-B40C-4774-9E89-CACA1DB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Explain VaxPlan in clear, non-specialist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8C6BA-F6E5-442F-89DA-88C3D28B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30E0-4520-415D-8D4D-59A166A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Show how digital microplanning can improve visibility, coordination and follow-up.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CEB7D-6D13-401F-A3FB-376B7C6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3ACE0-E8EF-4C6A-9B78-179DCEB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Confirm alignment with WHO, UNICEF and Gavi immunization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DDCDF-BF06-48E8-8A17-7B1952F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577A9-7CCF-455B-B904-459EFDF9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Identify decisions needed for pilot readiness and governance.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38B60-DCED-4029-B3DE-D952780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869F6-7B49-4D96-BF87-308C0B3A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085"/>
                </a:solidFill>
              </a:defRPr>
            </a:pPr>
            <a:r>
              <a:rPr sz="225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CF3E6-3C7E-45AF-BC2D-0BA08C4F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Shared national planning workspace for teams and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EB443-57F0-4478-9129-D90B951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75BB4-0634-440A-B146-E3C18C32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EA6"/>
                </a:solidFill>
              </a:defRPr>
            </a:pPr>
            <a:r>
              <a:rPr sz="2250" b="1">
                <a:solidFill>
                  <a:srgbClr val="147EA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26060-9ED9-4103-9EE8-5EC9450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Linked views: map, workflow,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ED63B-0BC5-4F04-B88E-CDB11F1A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70E3A-2D02-4D7C-BDA9-DD30358C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05F3D-63C1-421E-9EA1-8BBBBCA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Slides for TWG review and decision</a:t>
            </a:r>
          </a:p>
        </p:txBody>
      </p:sp>
    </p:spTree>
    <p:extLst>
      <p:ext uri="{BB962C8B-B14F-4D97-AF65-F5344CB8AC3E}">
        <p14:creationId xmlns:p14="http://schemas.microsoft.com/office/powerpoint/2010/main" val="2064704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4225D-9B63-4E0E-B8CC-DFA2077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What Is Immunization Microplanning?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8E91C-5CE4-4D55-BB17-F61C444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WHO, 2015; WHO and UNICEF, 2017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AA39E-EB95-43F7-A2EC-16F4131F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EB37-199E-4944-BE67-CDD8D0E2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5FA20-2D49-4E46-BBC5-6BF94C2D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064F3-F4F4-42B5-9B8E-50A7C10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A bottom-up planning process that starts from the health-facility catchment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C4027-FDA8-46B1-B7F0-A737A43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F4765-F6AF-4E3C-81D5-6C5773F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BE4B5-1722-4311-93CA-9794770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Identify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1D0D2-B11D-4F3D-B192-6DF3F82A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Which communities, settlements and population groups must be reached.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44CCD-C20A-4625-8B26-10A3C01E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A195D-B6E1-40EC-AD08-FBA1C294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51E67-CEDD-4016-B753-FC8F90D7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6EAC3-7CCD-4EFD-8416-D137184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Where sessions happen, who is responsible, what resources are needed, and when teams go.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5C31B-6894-4709-8F99-BE521CCC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99D7D-30A3-4164-8B0E-168A15A1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A8DC-0121-4450-ABA2-D9EACC2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Monitor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F64D8-3D02-4210-B4C2-BA3EF3D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Whether sessions happened, drop-outs reduced, and missed communities were followed 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93519-E3FF-48A7-8A88-296B23E1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24003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33B9A-2043-445D-9928-2FBCCA92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EA6"/>
                </a:solidFill>
              </a:defRPr>
            </a:pPr>
            <a:r>
              <a:rPr sz="1500" b="1">
                <a:solidFill>
                  <a:srgbClr val="147EA6"/>
                </a:solidFill>
              </a:rPr>
              <a:t>Plain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0377F-0412-4440-B96F-81542F41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1924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Microplanning turns a national immunization goal into practical local tasks: villages to visit, staff to assign, vaccines to carry, sessions to run and gaps to close.</a:t>
            </a:r>
          </a:p>
        </p:txBody>
      </p:sp>
    </p:spTree>
    <p:extLst>
      <p:ext uri="{BB962C8B-B14F-4D97-AF65-F5344CB8AC3E}">
        <p14:creationId xmlns:p14="http://schemas.microsoft.com/office/powerpoint/2010/main" val="1898877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3D3C75-0F74-47B1-80EF-82600BA6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Global Guidance: What Good Microplans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734DE-098B-4D53-A1C3-29954DD7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 and UNICEF, 2017; UNICEF, 2023; Gavi,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AC306-9229-428F-99D2-238844E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93161-0C4A-4023-A35F-AD611895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6613A-09F0-437E-A5FA-9733340E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D6F43-9F6D-454E-A04C-A635417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19EF6-5FF2-42B3-A2C9-E75FFF57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53877-CE56-41C2-906D-05BB674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WHO RED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49FDE-C5F3-4DB3-AD89-48A0C5F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Use district and facility microplans to improve access, reduce drop-outs, supervise regularly and monitor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ED5F6-EE63-4C5C-953A-78B7AF1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3825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163D6-EE38-4A67-BFE6-36F5C9A1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382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B215D-A8FE-40E7-B2CE-8411DCD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UNICEF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C49F0-24DD-4733-89A5-9E031898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Use local data to identify unreached and zero-dose children, map settlements and plan service delivery.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2D157-972B-4BA1-A816-2D203AAE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7216-53DE-40A9-94AB-A4F63F1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0712C-AA3D-4284-826D-469F8EAB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Gavi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97E63-9F64-4982-A2B4-F78F24B4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Focus resources on equity, zero-dose communities, resilient systems and measurable implementation results.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FE8B6-BEE8-46D4-97B2-AEA3AEE6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AD65E-446F-4BA9-B9F0-B4D1A7C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0AC5E-289E-4064-91B6-C87974C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Digital health implication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EDA11-6D3A-47DC-BA02-C490608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Microplans should be visible, reviewable, reusable and linked to routine reporting and logistics.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BC251-60BA-45EB-9E76-D3E4C7A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742"/>
                </a:solidFill>
              </a:defRPr>
            </a:pPr>
            <a:r>
              <a:rPr sz="1575" b="1">
                <a:solidFill>
                  <a:srgbClr val="0F2742"/>
                </a:solidFill>
              </a:rPr>
              <a:t>Core message: guidance asks programmes to identify who is missed, plan how to reach them, monitor delivery and act on gaps.</a:t>
            </a:r>
          </a:p>
        </p:txBody>
      </p:sp>
    </p:spTree>
    <p:extLst>
      <p:ext uri="{BB962C8B-B14F-4D97-AF65-F5344CB8AC3E}">
        <p14:creationId xmlns:p14="http://schemas.microsoft.com/office/powerpoint/2010/main" val="60904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6E733-4607-47A6-A22F-19ED227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The Current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04EB5-2675-42A7-9EFD-2506AFD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 and UNICEF, 2017; 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FA1BF-C917-4893-B655-7D7F992B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523FF-1682-475A-A936-30009249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AA815-99A7-4C50-BA03-BEC3C986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2B3BC-93A1-40FC-8C4B-AF604FE2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97034-417A-4E88-81F2-88A315AD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0035A-BEB2-4441-B981-3A46D49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Paper-based plans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A785D-221F-4577-BC26-3A50DC6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Hard to update, aggregate or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342AE-3A93-47FA-A761-A6ACB83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7635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EB3B3-E9A6-4591-8240-1E6D43D6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763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A0310-CA71-4D4B-ADDC-3AC9A04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47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Weak catchment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0A784-CF6B-4241-BAE2-B85B581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2880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Teams may not see settlements outside routine routes.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A0AF2-8D77-45D5-A28B-FEE2B7D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D8591-3068-4700-89A4-9732E9CB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AB14F-9246-47C1-97D5-F9085C6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Stock and logistics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10BC8-2239-4981-92DE-2CAE2082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Session plans can be disconnected from vaccine and cold-chain readiness.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A894C-514C-4DD7-BDBC-6B9144E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33814-605F-40F2-8387-4AE8011C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4E056-793A-4B5B-99B6-D9334E6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Missed settlements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EE9DC-D1EB-4C62-A10D-70378752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Zero-dose and under-reached communities are not always visible.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FBF3A-9EA0-453F-904B-ADF25D00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623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EA8AB-B091-4A24-B14A-35F29CB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62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BFDFD-8A63-4DC9-B5CB-46A54EA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Limited accountability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213A9-574A-49A2-A7AF-DF63D406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Approvals, changes and follow-up actions are difficult to trace.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07D31-B399-4847-8FEF-9F5F75F3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300D2-9CE3-4929-B58D-0D25482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9635D-F6B0-4501-96FA-8D0AFEC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Fragmented reporting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2FCAB-865E-4274-976C-74693C4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Maps, sessions, stock and dashboards often sit in separate files.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F6D9B2-8E07-4E27-BB89-43778B5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Planning quality is not only a data issue. It is also a workflow, visibility and accountability issue.</a:t>
            </a:r>
          </a:p>
        </p:txBody>
      </p:sp>
    </p:spTree>
    <p:extLst>
      <p:ext uri="{BB962C8B-B14F-4D97-AF65-F5344CB8AC3E}">
        <p14:creationId xmlns:p14="http://schemas.microsoft.com/office/powerpoint/2010/main" val="1620841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91F39-CBE4-4D7D-AF42-08181B1A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Why Digital Microplanning Is Needed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BBF04-F7A7-40B9-837B-318BD883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WHO, 2020; Gavi,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5BDA1-49D4-4AE4-8A22-1A358C6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7DE84-F45E-4D51-BDBB-9B2D6C31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3E642-2456-4541-BD02-1C06FA6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53c49c6694607"/>
          <a:srcRect xmlns:a="http://schemas.openxmlformats.org/drawingml/2006/main" l="7643" t="0" r="7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00150"/>
            <a:ext cx="476250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36099-2FD7-4CE0-B656-89F805E7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6E15E-D516-4C8A-AFD0-64880AC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291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Dashboard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67CE0-AA21-44EF-93B3-992E92F3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A national workspace can show planning status, alerts and programme activity in one place.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799ED-2CF2-471E-BC7A-1F581036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D6C9F-8D2F-48C5-B805-52985CA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Coverage gaps are increasingly local and require precise follow-up.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C59F7-6267-435A-8D95-A858AEA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D7BD6-B4F6-46CF-B697-22DECD11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Teams need shared, up-to-date plans rather than static 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2792A-C267-4778-948F-AB6D38B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49A80-78A2-4D63-907D-08E41006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Partners need a transparent view of priorities, progress and bottlenecks.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0D666-D7D9-46E2-99B7-A8115A4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67534-20A0-4E85-A0A2-71FFF02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Digital systems can preserve an audit trail from plan creation to implementation review.</a:t>
            </a:r>
          </a:p>
        </p:txBody>
      </p:sp>
    </p:spTree>
    <p:extLst>
      <p:ext uri="{BB962C8B-B14F-4D97-AF65-F5344CB8AC3E}">
        <p14:creationId xmlns:p14="http://schemas.microsoft.com/office/powerpoint/2010/main" val="570544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3CF93-1DC4-4D76-A127-2EDDE412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What VaxPlan Is and Who It Serves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4A9DB-EE7A-4E44-915B-F4599FD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C1252-6A6A-4173-A401-2FEDBCED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BC973-2047-46C6-A71C-10B17139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81249-68FD-458B-9974-04D71B89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2073B-B487-46BB-BA50-F0B170D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VaxPlan is a GIS-enabled planning, coordination, logistics, reporting and accountability platform for immunization teams.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2AFB2-E356-4ACC-A214-3A6B5650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2127A-3794-4D13-AE1C-5D35DDB9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575BE-0440-48B4-8CFD-EDF1C16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Health 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A46B6-BD1A-484A-8AF0-A9A7415B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Build catchment-based microplans and session plans.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7005D-7AB7-4AE8-A1CE-BF5D5045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FA9CB-FE14-4BB4-A6B2-83AE4142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B0EE6-156D-4A24-B8F2-7BFD113B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District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7C510-F1C7-4EDA-96D1-2446DCA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Review plans, coverage gaps, supervision and resource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45D3E-4291-4C61-934A-5FBEE941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EAA8D-8310-47DB-9154-32B21339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7A43C-0EB2-413A-8E00-264C0CE9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National EPI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C69E9-7CC0-42D9-ABAE-73ADC65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Coordinate standards, approvals, reporting and programme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C3397-A3D9-41D2-B602-5473D3B5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9A39F-DADF-4473-9A7F-B745958A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C4FF7-8CC3-44CD-89E4-9C7B0868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Partners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D11D1-30A2-4EF5-B65E-A2E3A25A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Support evidence-based targeting, financing and implementation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632D2-9BDD-4E42-AE2F-A923408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0E092-EC8B-4371-84A5-F63BB528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B8205-B211-4D89-A4FC-62CDF10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ICT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EFEAE-30E1-438A-B999-9114D47A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Manage users, roles, integrations, data governance and deployment.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13A20-1F7C-452A-82AD-4E6BF1E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B15AF-BDD2-43EB-AD0C-C2C87504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632FC-0763-4DC8-8842-5756DC6A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M&amp;E teams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8911E-9588-459B-8784-2BE2503C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Track indicators, missed communities, sessions and follow-up actions.</a:t>
            </a:r>
          </a:p>
        </p:txBody>
      </p:sp>
    </p:spTree>
    <p:extLst>
      <p:ext uri="{BB962C8B-B14F-4D97-AF65-F5344CB8AC3E}">
        <p14:creationId xmlns:p14="http://schemas.microsoft.com/office/powerpoint/2010/main" val="2083695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FF9C7-39D6-486F-8261-5820328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How VaxPlan Addresses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8D523-9325-42A5-ABB0-E1892F0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8F18C-DA4A-4E3F-895C-D29E6842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E35B2-E744-4259-9366-FD83DFC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47876-C953-414C-A22B-0C77DCA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86A16-DC46-43AB-8A4F-78F2856D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F8241-E991-4637-B739-A0329F83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63A52-8F89-45CF-9C18-BC770888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paper plans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A7631-0902-40F8-8F20-1A4E4E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62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to structured digital microplans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3D667-14E3-48B5-B6A6-5E270CF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62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EA6"/>
                </a:solidFill>
              </a:defRPr>
            </a:pPr>
            <a:r>
              <a:rPr sz="1350" b="1">
                <a:solidFill>
                  <a:srgbClr val="147EA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D8852-36CC-4759-B555-355EFFFD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C5AFA-5B8D-4140-A918-84751DEB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CC4AA-22AB-4210-A755-3D495790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unknown catchments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31AA6-3F75-4F07-8FD3-ED3A1A7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81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to mapped facilities, settlements and service areas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8497B-A396-498C-9263-31E9B77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EA6"/>
                </a:solidFill>
              </a:defRPr>
            </a:pPr>
            <a:r>
              <a:rPr sz="1350" b="1">
                <a:solidFill>
                  <a:srgbClr val="147EA6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5157B-36FB-45E7-9042-1AEBA61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CD591-8ADC-4AFF-B356-D0E6D3D2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55EA1-7880-411B-96E2-51DD51B2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separate logistics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64521-2908-4D49-A971-9BE9F919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0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to session and stock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20D21-BC18-4BE9-AFA1-A76135C9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EA6"/>
                </a:solidFill>
              </a:defRPr>
            </a:pPr>
            <a:r>
              <a:rPr sz="1350" b="1">
                <a:solidFill>
                  <a:srgbClr val="147EA6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EF9CD-C740-4C6A-820B-187313DC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8F9D5-92A2-40E1-A368-8F952D15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A0C55-E3F3-4EE8-8BB2-9624205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late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51A5D-21AD-4CCE-A2BE-3ABC727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195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to approvals, notifications and dashboards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9A86A-FA4C-47CF-9F65-392A152C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9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EA6"/>
                </a:solidFill>
              </a:defRPr>
            </a:pPr>
            <a:r>
              <a:rPr sz="1350" b="1">
                <a:solidFill>
                  <a:srgbClr val="147EA6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16F16-DDC0-4698-9092-D00D205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E6218-C07F-48AE-9968-5F0CFE59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9580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98F5B-29E5-4FD4-85A4-5C2F5729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missed settlements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09F72-5597-42AF-BD88-1D928D2D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386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to explicit missed-community and zero-dose follow-up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E819B-F725-48B5-8519-0B1257CE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EA6"/>
                </a:solidFill>
              </a:defRPr>
            </a:pPr>
            <a:r>
              <a:rPr sz="1350" b="1">
                <a:solidFill>
                  <a:srgbClr val="147EA6"/>
                </a:solidFill>
              </a:rP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29911B-D170-4AD5-A684-A19291F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742"/>
                </a:solidFill>
              </a:defRPr>
            </a:pPr>
            <a:r>
              <a:rPr sz="1575" b="1">
                <a:solidFill>
                  <a:srgbClr val="0F2742"/>
                </a:solidFill>
              </a:rPr>
              <a:t>VaxPlan strengthens the microplanning cycle: identify, plan, resource, approve, implement, report and improve.</a:t>
            </a:r>
          </a:p>
        </p:txBody>
      </p:sp>
    </p:spTree>
    <p:extLst>
      <p:ext uri="{BB962C8B-B14F-4D97-AF65-F5344CB8AC3E}">
        <p14:creationId xmlns:p14="http://schemas.microsoft.com/office/powerpoint/2010/main" val="302118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1443D3-ED52-40FC-AEDE-0288F08B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Core Features and Functionality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B0020-BEAE-4191-98E9-8C83DD5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3AB25-B11E-4EAE-A5A4-782BC917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D6BA3-48E9-4144-83A9-4362C7E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C9702-EF25-4D4B-83A9-12DA93F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D5B5A-4A32-45D6-B91C-F667919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5D763-BA3D-4E6E-B157-D39D7FC0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D08B4-EB99-4F2D-922C-9259CCE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7C0C2-42FE-4DA6-950F-2F6C7D1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0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GIS facility and community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5D163-4409-4593-B0BB-2BA197D1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181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7941D-F5FE-4A4B-B481-C1A76D9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7D0C5-D028-4C13-88C9-B3A6992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66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4C63D-97DC-44D7-89A5-A8D2C604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0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Catchment area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2E027-899F-44EB-BD38-0EF428A5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81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D5DF6-8A57-4E1C-91E0-C90E10F2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09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8E010-3E54-479A-B3C7-B7BFC31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73C21-670E-4A0B-8ABE-6E3F5F1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Outreach and session 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6A7E3-0EDA-4837-9195-60B13E1F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6CCCD-3A17-4EB9-A89B-3A82D2C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E6A41-A7AF-4367-B59F-F877B7A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FC750-FC93-40E5-AB00-95F883F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Population and settlement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7B87A-322E-48DC-99B3-0F4FFA58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8A2E9-C137-453A-8926-7988FADB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2657C-28ED-4DBB-AA2E-DF305E0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C368A-EC6B-4BFB-9C2F-F2FC799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Vaccine stock and logistics linkage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1936B-D3C9-4907-A47B-D2F3A165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834A0-8347-4C6F-8B7D-DC30A74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0F64B9-D9FB-47D8-8A3D-949FC354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85CE8-AEDF-417C-95E1-8B6C7232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Role-based access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831F8-E0FB-4344-9096-CB18EBA7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30D3DE-2BEF-4F5C-A11B-45E86B4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CF2ADE-ECED-47E2-9B0D-3514A33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2EC9F3-86E2-4AA4-AF19-B091C5BC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Dashboards and 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CC1EF-2BF2-4136-935A-2538C340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C422F-8CBB-44C3-B413-1039F7BA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24A07E-B275-45AA-8522-FC3D386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7AB3B8-DFED-40DF-97FE-F2011DD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Microplan generation and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FA29CE-5358-4D5D-B828-94507A7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4FF016-BA2C-4624-975D-47283D5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17A92B-A7BB-46DB-90B3-2CC5F77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175068-132F-40B8-9F35-E9141F6D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</a:defRPr>
            </a:pPr>
            <a:r>
              <a:rPr sz="1350" b="1">
                <a:solidFill>
                  <a:srgbClr val="0F2742"/>
                </a:solidFill>
              </a:rPr>
              <a:t>Workflow notifications</a:t>
            </a:r>
          </a:p>
        </p:txBody>
      </p:sp>
    </p:spTree>
    <p:extLst>
      <p:ext uri="{BB962C8B-B14F-4D97-AF65-F5344CB8AC3E}">
        <p14:creationId xmlns:p14="http://schemas.microsoft.com/office/powerpoint/2010/main" val="8798947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C76CD-E4F3-4F11-990B-9ACE8A8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Demonstration Screenshots: Evidence From the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C3D93-EA4E-42B4-A8F2-443A4548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F4900-C344-44AD-90C4-6C701AB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15DD2-8B0F-4E37-B229-79BD113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DD9C8-6E81-4041-A897-66D5E43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7497594154fd6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2395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1221ede134606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12395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287e221ea4a14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12395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FB15F-9A60-4F20-A499-31FAB22A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342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297B3-DFBE-48BA-9C52-CF052A9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GIS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176B1-E470-455F-ACCB-2FF5846C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Shows mapped communities, facilities, boundaries and planning layers.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EBB68-20C6-4751-A570-486B2080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342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70741-099A-4F67-AD3A-624DA9CB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Point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5A33A-E69A-4FFA-B14A-7386E82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Shows location analysis for selected map points and service planning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B9AB2-E8A3-4D15-B010-C129EBC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42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C58CF-678B-4CDC-B295-26D29527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Microplan workspace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196D5-F26E-4944-8F36-3257166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Shows structured plan creation and review, not just map display.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1c931bff24bd6"/>
          <a:srcRect xmlns:a="http://schemas.openxmlformats.org/drawingml/2006/main" l="0" t="12963" r="0" b="12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0576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5c47eab744a80"/>
          <a:srcRect xmlns:a="http://schemas.openxmlformats.org/drawingml/2006/main" l="0" t="12963" r="0" b="12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40576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cfa032d894cb3"/>
          <a:srcRect xmlns:a="http://schemas.openxmlformats.org/drawingml/2006/main" l="0" t="12963" r="0" b="12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40576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49BB5-876B-493F-930D-86DB7E62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Session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C289A-A534-40E8-80A4-2E5B4F5E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Stock/logistics linkage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F3DF3-F948-4423-ACB0-BFE88A55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Role-based user views</a:t>
            </a:r>
          </a:p>
        </p:txBody>
      </p:sp>
    </p:spTree>
    <p:extLst>
      <p:ext uri="{BB962C8B-B14F-4D97-AF65-F5344CB8AC3E}">
        <p14:creationId xmlns:p14="http://schemas.microsoft.com/office/powerpoint/2010/main" val="881430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732C4-8AC5-4360-A0D1-99F0A9C0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Alignment to Global Standards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983A1-5501-4620-83AE-046B42B5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 and UNICEF, 2017; WHO, 2020; UNICEF, 2023; Gavi,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A992F-1C0C-4D1A-98AE-1C678E9E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450BE-9E83-46D8-BA6B-B9FF1E0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A8C5E-2F2E-4B52-A085-F61D8885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83834-10D1-4154-87DB-74DA0FD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0975D-C906-45FA-B18E-1BBCF03C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612D9-7B1E-4C47-B4A9-47FD80E4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WHO 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2C23F-1CCC-44A6-BE35-BDB0405C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Facility and district microplans; data use; supportive supervision; monitoring of drop-outs and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0C11D-F94B-415D-9A0B-B33A293A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CFAC4-7F09-419D-8ED2-CF36ACA5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ABC8D-6AF1-40B2-87A6-4056C60D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UNICEF zero-dose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9DFC1-82B1-43F7-A753-E398BA36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Identify missed communities, use local settlement evidence and plan outreach based on need.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D7127-0D9A-4827-9838-F11CF45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36ACE-1E78-4E1A-8961-56203661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B7CEE-94EF-490F-A777-36AE6494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Gavi equity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B5D29-E332-4CC8-BC19-9A3F2EE4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Target zero-dose children and missed communities; strengthen health systems and accountability.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8009A-5596-4025-B373-B4F90E66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843FB-95F4-4790-A588-E1188E01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6CE7B-5911-456E-B5D4-752D230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Digital health practice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290DC-AF1A-4B1F-B919-92D939E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Reusable data, role controls, review workflows and dashboards for decision-making.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99B28-2134-4C9D-9EF6-FFCF89B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742"/>
                </a:solidFill>
              </a:defRPr>
            </a:pPr>
            <a:r>
              <a:rPr sz="1575" b="1">
                <a:solidFill>
                  <a:srgbClr val="0F2742"/>
                </a:solidFill>
              </a:rPr>
              <a:t>Interpretation: VaxPlan operationalizes guidance by making facility-level planning data visible, reviewable and actionable.</a:t>
            </a:r>
          </a:p>
        </p:txBody>
      </p:sp>
    </p:spTree>
    <p:extLst>
      <p:ext uri="{BB962C8B-B14F-4D97-AF65-F5344CB8AC3E}">
        <p14:creationId xmlns:p14="http://schemas.microsoft.com/office/powerpoint/2010/main" val="448249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6BAF3-E817-42C3-A9CD-BB73815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Value for Ministries of Health and Partners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52C99-83E3-4F65-BBD0-D9F3EB8C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0010-9E91-4124-B6C5-3027887B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8EA17-29D2-43BA-BBE5-23176DA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106CF-A5BE-4EF4-97D0-09212A1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149f250164d37"/>
          <a:srcRect xmlns:a="http://schemas.openxmlformats.org/drawingml/2006/main" l="7359" t="0" r="7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200150"/>
            <a:ext cx="447675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0CDF9-86FB-479E-A12F-FD38E52D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476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0727E-4025-4A2E-9C27-93725310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424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EA6"/>
                </a:solidFill>
              </a:defRPr>
            </a:pPr>
            <a:r>
              <a:rPr sz="975" b="1">
                <a:solidFill>
                  <a:srgbClr val="147EA6"/>
                </a:solidFill>
              </a:rPr>
              <a:t>Reports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8B3C3-7A6A-4B49-9C5F-42F61F64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Dashboards and exports help convert implementation activity into reviewable programme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BBA7C-A1F5-4162-8119-DC05BD1B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3A97B-065A-4AE3-865D-82E5CA8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Improves visibility of facility catchments, populations and missed 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3EFDD-DEBC-44EB-A6DE-87462DD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CAEB5-BC87-4959-8224-8AE9B3F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Supports transparent planning review across facility, district and national levels.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6E4AA-6ABB-4478-8527-6D97D66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D0E45-2960-4ACE-87F3-5A546F5D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Links microplans to sessions, stock readiness and implementation monitoring.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250B5-9712-45D4-8E83-7BF34FE6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369F0-6836-44AF-A3A6-5995F84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Creates evidence for partner coordination, resource allocation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0882841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F56DD-F0E0-4A2A-B06C-EAB5167F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Implementation and Pilot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11DBE-4416-4AE8-A023-5CD7FD4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4C6AE-580F-4CA9-BFDC-A54BD88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26DF7-6CF8-47BC-85D3-48CF1580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52AE6-E85F-483F-8968-FAC425FB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675B7-0EA9-4AE4-9428-9C1932A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4884A-7315-411E-9972-47E321A3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679E3-C0FB-4352-812C-59EBEC20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758F5-3846-4270-B616-A2F1D98C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1. Prepare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861A1-DE65-4B82-B4F4-5F8B5B2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Confirm governance, users, facilities, boundaries, population sources and integration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A4DB0-2CC4-4ADE-99C1-68A4E6A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C3CB2-DF87-46C3-9AFC-9D8FA655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5F622-4120-44F5-8156-BCD403C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EB01F-6ED6-4428-9BF9-B7DB5C05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2. Configure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3A2CE-52F3-4F6A-9DE4-5AB34B38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Set country profile, vaccines, roles, reporting periods, modules and data access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0A1B1-57A9-4F74-A906-2A147EB2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AA5AC-5875-44CC-A4D6-2E488D5B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C946E-27F0-4C39-9765-DAF556CB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C4227-0DCC-4B28-BB20-07F19EE9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3.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C321C-F93C-4C59-9731-3CD1E3D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Select districts, digitize microplans, plan sessions and test reporting loops.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B4BD1-EDA8-4B27-A5B8-96663F6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D5157-EC83-4F87-BDEF-760F99BA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8132B-B99E-4F57-90BB-11D5FB62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746B3-0C54-440D-9237-AED5109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4.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78504-5AAB-46D5-9601-2480C25F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Assess usability, data quality, operational fit, training needs and sustainability.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21A39-9035-4800-B2AC-4CF1352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3C4C2-F8D7-4A3F-9DD4-77C6C1DE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C1E61-2BD8-4B5C-A112-AC5B243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F3E1B-2C58-4BA6-8A3C-6F17DFD2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5. 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A1123-B34D-4623-B2D3-07112EC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Refine SOPs, onboarding, hosting, support model and national rollout plan.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A86B99-9480-4A38-B840-8735AAC3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742"/>
                </a:solidFill>
              </a:defRPr>
            </a:pPr>
            <a:r>
              <a:rPr sz="1575" b="1">
                <a:solidFill>
                  <a:srgbClr val="0F2742"/>
                </a:solidFill>
              </a:rPr>
              <a:t>Pilot principle: start small enough to learn, but complete enough to test the full microplanning workflow.</a:t>
            </a:r>
          </a:p>
        </p:txBody>
      </p:sp>
    </p:spTree>
    <p:extLst>
      <p:ext uri="{BB962C8B-B14F-4D97-AF65-F5344CB8AC3E}">
        <p14:creationId xmlns:p14="http://schemas.microsoft.com/office/powerpoint/2010/main" val="1812960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B687D-4FE5-4012-A091-038E3C0F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Risks, Assumptions and TWG Decision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5C242-DCD8-4A28-AC69-A481DC45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A88DF-3B8E-4FE3-A375-2B3284A5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19D9D-BCE9-4B97-8B50-DAC34CF1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38FBB-6DDB-4798-A601-F67A750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BEB7E-F51C-46E3-93EB-C7AD9D5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89BCD-9378-4DD3-A066-AD9CF708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8603F-6A09-43CF-9BC0-A548F893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Data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1E9D1-6E11-4415-8AB8-8555FEF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Validate facility lists, boundaries, population layers and community records before pilot decisions. Mitigation: data readiness checklist and district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AECDB-229A-4792-8BE3-8CD1D4C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4709C-E651-49D7-9567-776D287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4B766-A57D-4CFA-8151-C6346C52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User adoption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ABD4A-E75B-465A-8C89-3BA4D99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Users may see digital microplans as extra work if workflows are not aligned. Mitigation: role-based training and simple SOPs.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E189B-CA9D-40B7-80D6-4828A030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AC6E6-1797-4F24-A6C7-00D8AE8C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D16F0-5B7A-491D-A4DD-8BAAE52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Interoperability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33437-5FEA-43F5-9999-3BCA421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Stock, DHIS2/HMIS or identity integrations may vary by country. Mitigation: phased integration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34C80-3748-4F2B-8E67-B88C85F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A998B-9AD4-41FC-9646-ECE1ADA7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BC197-15E6-48C0-A580-F73AD812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</a:defRPr>
            </a:pPr>
            <a:r>
              <a:rPr sz="1500" b="1">
                <a:solidFill>
                  <a:srgbClr val="0F2742"/>
                </a:solidFill>
              </a:rPr>
              <a:t>Sustainability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70DEA-63D8-4BBC-B634-0D825DE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Hosting, support and ownership must be clear before scale. Mitigation: MoH-led governance and partner support model.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E0BDC-C6A6-4830-ACBE-E4C212F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629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6B96D-BFCD-4EA5-AB88-E26DA863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EA6"/>
                </a:solidFill>
              </a:defRPr>
            </a:pPr>
            <a:r>
              <a:rPr sz="1500" b="1">
                <a:solidFill>
                  <a:srgbClr val="147EA6"/>
                </a:solidFill>
              </a:rPr>
              <a:t>Decision 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66439-BEC9-40A6-880B-F6A506A3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625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Approve pilot scope; confirm data governance; nominate technical and programme focal persons; agree success indicators; approve next implementation workshop.</a:t>
            </a:r>
          </a:p>
        </p:txBody>
      </p:sp>
    </p:spTree>
    <p:extLst>
      <p:ext uri="{BB962C8B-B14F-4D97-AF65-F5344CB8AC3E}">
        <p14:creationId xmlns:p14="http://schemas.microsoft.com/office/powerpoint/2010/main" val="11889883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79F2B-3A45-4480-A8C5-2724414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742"/>
                </a:solidFill>
              </a:defRPr>
            </a:pPr>
            <a:r>
              <a:rPr sz="2700" b="1">
                <a:solidFill>
                  <a:srgbClr val="0F2742"/>
                </a:solidFill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4D736-C216-43F8-AFC4-F40F776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Harvard 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8567A-E9D6-4AEB-8EFB-D55F9610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D89E3-29AC-4E20-B1C0-4088E514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7B771-8BF9-423E-989D-E9DCD276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D9EEF-8C77-4D1A-94ED-C07478E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Gavi (2024) Gavi 5.0 strategy and immunisation systems strengthening guidance. Geneva: Gavi, the Vaccine Alliance. Available at: https://www.gavi.org/.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3C5C8-3AF9-427A-86B0-97398919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UNICEF (2023) Immunization microplanning and zero-dose/missed communities guidance. New York: United Nations Children's Fund. Available at: https://www.unicef.org/immunization/.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8F878-4B26-4428-B940-448AD253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WHO (2015) Immunization in practice: a practical guide for health staff. Geneva: World Health Organization.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C5E83-B8DD-4AF6-9ACB-EF1AF92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WHO (2020) Immunization Agenda 2030: a global strategy to leave no one behind. Geneva: World Health Organization. Available at: https://www.immunizationagenda2030.org/.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9E63C-1EB8-4F75-BDC2-36E224A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WHO and UNICEF (2017) Reaching Every District: a guide to increasing coverage and equity in all communities in the African Region. Geneva/New York: World Health Organization and UNICEF.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72A30-1D94-462B-BF9C-E0BAB78B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VaxPlan (2026) VaxPlan local development instance and application screenshots captured for Digital Health TWG briefing, 28 June 2026.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86976-69F5-476E-8B4F-7F2F0CE3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A6"/>
                </a:solidFill>
              </a:defRPr>
            </a:pPr>
            <a:r>
              <a:rPr sz="1125" b="1">
                <a:solidFill>
                  <a:srgbClr val="147EA6"/>
                </a:solidFill>
              </a:rPr>
              <a:t>Note: screenshots are embedded from the working VaxPlan app and are used as product evidence.</a:t>
            </a:r>
          </a:p>
        </p:txBody>
      </p:sp>
    </p:spTree>
    <p:extLst>
      <p:ext uri="{BB962C8B-B14F-4D97-AF65-F5344CB8AC3E}">
        <p14:creationId xmlns:p14="http://schemas.microsoft.com/office/powerpoint/2010/main" val="1884658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2026-06-28T14:42:20.4900000Z</dcterms:created>
  <dcterms:modified xsi:type="dcterms:W3CDTF">2026-06-28T14:42:20.4900000Z</dcterms:modified>
</coreProperties>
</file>